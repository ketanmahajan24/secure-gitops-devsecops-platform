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</p:sldIdLst>
  <p:sldSz cx="12192000" cy="6858000"/>
  <p:notesSz cx="6858000" cy="12192000"/>
  <p:embeddedFontLst>
    <p:embeddedFont>
      <p:font typeface="Bitter Medium" panose="020B0604020202020204" charset="0"/>
      <p:regular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Open Sans" panose="020B0606030504020204" pitchFamily="34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8235" autoAdjust="0"/>
  </p:normalViewPr>
  <p:slideViewPr>
    <p:cSldViewPr snapToGrid="0" snapToObjects="1">
      <p:cViewPr varScale="1">
        <p:scale>
          <a:sx n="73" d="100"/>
          <a:sy n="73" d="100"/>
        </p:scale>
        <p:origin x="104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4483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28434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github.com/ketanmahajan24/secure-gitops-devsecops-platform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669" y="2936566"/>
            <a:ext cx="11340661" cy="1647153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Title:- </a:t>
            </a:r>
            <a:r>
              <a:rPr lang="en-IN" sz="3200" b="1" dirty="0"/>
              <a:t>End-to-End </a:t>
            </a:r>
            <a:r>
              <a:rPr lang="en-IN" sz="3200" b="1" dirty="0" err="1"/>
              <a:t>DevSecOps</a:t>
            </a:r>
            <a:r>
              <a:rPr lang="en-IN" sz="3200" b="1" dirty="0"/>
              <a:t> and </a:t>
            </a:r>
            <a:r>
              <a:rPr lang="en-IN" sz="3200" b="1" dirty="0" err="1"/>
              <a:t>GitOps</a:t>
            </a:r>
            <a:r>
              <a:rPr lang="en-IN" sz="3200" b="1" dirty="0"/>
              <a:t> Kubernetes Platform with SonarQube, </a:t>
            </a:r>
            <a:r>
              <a:rPr lang="en-IN" sz="3200" b="1" dirty="0" err="1"/>
              <a:t>Trivy</a:t>
            </a:r>
            <a:r>
              <a:rPr lang="en-IN" sz="3200" b="1" dirty="0"/>
              <a:t>, Automated CI/CD, Monitoring, &amp; Canary Deployments</a:t>
            </a:r>
            <a:br>
              <a:rPr lang="en-IN" sz="3200" dirty="0"/>
            </a:br>
            <a:endParaRPr lang="en-IN" sz="3200" b="1" dirty="0">
              <a:solidFill>
                <a:srgbClr val="152D47"/>
              </a:solidFill>
              <a:latin typeface="Times New Roman" panose="02020603050405020304" pitchFamily="18" charset="0"/>
              <a:ea typeface="Crimson Pro Semi Bold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AutoShape 2" descr="data:image/png;base64,iVBORw0KGgoAAAANSUhEUgAAAMgAAADICAYAAACtWK6eAAAQAElEQVR4Aex9BYAd1dX/GffntprdZOOeDVEkeHEoJLhroVCgSIFSFmjx4tIAheKFFNeiQUOACHHZbNZ33z5/b1z/d7akH6WhX9t/v7aRydydmTtXzz2/e+y9Fxx2Hjsp8P9BgTsmNYReOGDWmbePHbHs+pETGlvmzCH/P5r7r6u6EyD/dUuybQzIB8KN48eHOYe8KNvTf6WmaUrOKBd6KxVs25jB3zfKHQ0g29Xi/X1L/K8vdWsyKaT62g9qwI1nUyT9E9YhQizLPhEC0B9cssT61/f4n2txhwDI/LPOoh469NDkfXPmCNeMGUP/58i9bfbcAoC3NDSwdzYmks8NH3LcGIl+Usyl54d0fd+ghwdBs02GEd9qaW/Xt80Zfv+ot3uA3H7wXue0v/vS51jvpleGMNjtTSJ/5C9ra2vQom9XuvL3L/E//+YsAOrKWKwq0pj6YXOQeXyXcHyxYKgPCGAdPq2pKZliWOBsAobVN62s2Hb5n+/pv7cm/n83tP+OljHbfSuMkWa9IDZDb/+Z3EDm/hEs+2akfsgjtzY2ntCSTCZaGkKhs6qr+ZY5sE2BxrcDzmpupv4/KI1tqdsC4PMCdn5TE3NDTc3M2+oS5w6PS8+MDFAfDOe4x2pdbK6XzgypE6RAmGKhkiuAbTpQKitKpqxeqzuOsqWt7enqE2V7ms9fzeWitxa21w4besNAe08hTjJQTTOhoTw3flJAPHGSwDw4AjeWTxaCrx5YE7i2fqDhoHtHDR2B1ImQr4p5ABj8Fx4+M185fXoSL5XGDnfxPW4Y3zwKjZn9e4aK6pJ+2cuHDg1e2diYuHPq1COf+8GBl9bPmvX0Q80Tvxwj4qtjPDw3Nhy4c2Zt9ZHDQuLIKE3wnipDVTAErAEQwHmguQAo/n4SDr/Va2Grrl2zZruyPbbQcrsHiD9Ro5p8Jz561F0FTTdpmgYGPCC1EiRwhxsTDVVVu86uCUW5ZIhtPVOtVhZOIO0/TnHs+3/fOOznL46bOO+ZMRP2fmzMxMnzxzUP+9Xo0VU3NTcHzx0zRmxpbubvRjuuv4sjxvu/piU2H0mLO+bMaRCmTPoFlys8D33ZP1D5/AOiXHqZwcj5140dOxtJFRYl0gf4luslw4Ylrhk9YcavRo48IdA06krStO7HNOUl3DE/MPLFa3o3tZ9m6grDsNRnIZZ5pj4ZvnNYKkGRGoKAqgBtmuCjj3Q9wCwHVFWHimGAwdCFLEXecu7KTwoAiKjoz/Z2/l8v6n8FvU793UJ9hYvfUYmE7ug2VMUgXeBCLKg6WteKAjEkWeIUCyHAuXopULX/9OnjhsaDJ9YEqCsYo/KIYJb/EHG1twJa5qOomvuCL3StaHIKS4Ny31c8534xRc19NGrvmQ8+uv9uZ96w2+QxvpriMyf8C49rDpguCUPil6j97W+6aunIUIR7PpDgD46Hgj+OsPzJQ+ORzUx24KE9RfHyQ6uSV+8/fNjL0wj363rSWhszSp+HjOLvoFy4olgu7o2FgqYbi7yvBIItAy4+r5sjp/bp1tHLOvovLw8otxX78609fb0KxVIQYrk/AwQHFwzPApvBwGII0AXykQ1qaTlsx8cOARB//S59+21lFV3+pRYO3ttvqpaOucDzPETCYSj050DJFkDEKQiQJKxftpTHTJ3GLZ2L8JQQ5ZkQZamJlMhWT26orz1uv/3Fw2fNfnDmqOG3jqmveXREbc2bRi4bVLu6Tscyxd/FMesFd+Om624ZO+HIX40bl/QBM3fuXOIbKYP54/lH0o0/mNMQ1uCxnra206vqa96kwoEfnP/F13deuGL9+u5iejbDY4FIIPDID/bc/ZNKd8fFm7768tINq5fNLBUyTDAeWjNs1LCn4vVVP2dC0QOxRvEQxNEX3LJy7fV3rFrz3K/bN6y7bcUKBalI5h3d3ZrqaMNiocjsVColcxwHxWwOJF4AzXGgv1yCQF01FJGw0FhqcS84t/j1YDs+8G1ybv/koK9duEZeb3o3pXGsRbU829CRuoAMTV4KQjgUAwLDoZzNA4uuVdFoZcyIUW2TJ01oHT1yxKpkNIbyCXA0E8ySYho51c325j9cv7rrd8vXdtxakr0THJPcA1hmHk5zb0pSIKbmKhdqvZW3JvDJT07O6M9P2uewm5499IhT79pz1+Zrdtkl5QPnf5vKbw7cd2pEc59zCko1J0VPX1lxr7p40dc9qJ6HEqhC8JeyZK0gI9z5a9o2HVW23ZJKsy/2YN6c9Xlt3NvFnqM/as/9shW4ly5Zu7bj2sWt5QVr1ph+3e8m37sneNgNuAfn5NO5pFJWIBiKgOy44AREYGqqYbOsQJlmO/s058z0Zyuy321je3veoQDiL17L8uXFLty73+Ejt3ps0Cq7ABWkOuQVBXTDhGgkBq5lQ1d7h9TR1trQun5DnaHr9cOGDu2urqrptzQn/+mni7FVa9ZdXCnrL1JB8ZhoNBo5v7XVvKC11bhi+br2n69ed+9GgT0PUsFDqkY2XVFx3M9zui5ms7lJ6dbOM/NtPU9o6f5Xgxz16C8mTjn6mjFzxJaWlr9YC9/euG332T9Mb+x4qL8/3V/x8EMu+HjRR3csWqT589iSTNGVShXn1+s2bj5MduDVXgw/4ivDPO2qjT3LW1Bc4sElveo9aFwtCxfaW+p89+pLt+fmAjGiLqiNbWi4YXzDsDdqA2EI0wLougUl3QaTYqG1WII2y1rTQXlHLKKFdS2ACPfdxraz579YlO1sbt87nZbl7cV1LnmTzkZuHsAwmUjGwWQosCkSyooMroM2Z9sG13ZwWZaZzq4uaeOmtqSsW/3BePKhmprGU1K1w25Mpup/z1DitFJJu+93U6bffP+02bvdPf2AgN+xH1H2wXjeovfeKq9e9JPXyj0Hfi33H7KKg90zAjeNCEavKVaMEgtYCwaZj2uXfHnpvXtPi6JgpvjwzJmRWCx2PzZQuMOjqE88UTymZcWKAdQuGhj6+z8nlsSDV+A2Mbpc0E+q0Nw5l6xcucQHxP8U+dt3qEFsv4719VTP1PslzVukdHS8nlm7/mgPqZ1eXgaa4gFjeFBNZNKzoc/TQvCAHy9Zu9Sf399ueft4u0MCxF+6CxYvLqcx5wY1ET9pZS7dITM0mCQFrBAAmqbBsiwQWRZwzINYPOKEI4GMKPJ/HOjvO6U30/+QrJTmsiLPRQLBe6dMGHVuQ6r+9pgYNhzOi/jtfzv5O62v1viM6zPW/WvWyDeuXP7Gve1tPyrb3iHRZOIFpZA9K4xzbzUGuBMFz3o509F+BCsIL8lkzc9alixRv93elvurRk+Znu0ZOND1uB+FosEVF39Humwp9+1ry5w5ZAu04I/OmcM+vffeyTf2nP2zoCy/xpZLZ4QxGBEXOFEvF4FlGXBxDByKgrRuGmY08nC3QR7ysyVLOr/d3vZ+v8MCxF/YeT5DJWpfsWJVB2Ox1Ht9qm7bCCSWiyEGYaFcQl4u2wS5kCHLuXS1wOJHjh3V+N7UCSMfGFIV/4jwtGGaVb6hu7f3vt581xnAutpFC99q99v+e9NNq5e2nv/BB9f3KOZuXdlMT2vb5usKhjzCErl7MuBecduKt5WttXXZ7JGS45TOdnBiWUEl1579PSD6dl1fbRtHYodN2++9exsI6w9Tw+y9U+KJyaOkUFMScByryMDRBLARCdr1IpRFCjoruT68JnbGx1rXZZdsWLLd2xzfppd/v0MDxCfAvAULnDM++2rVRsM6jRsx6pI2Ve+QkQTRCAoI5MUhCAIsXQNdLkFX2/qmtg1rj1q9ctnljiWfXJtK4COG1t5TWx0+rzoSeZgGm//NnH2nXjNnrui3/Y+kW5Yt623DublWddXldqrm4jaKu+X7JAdqFxNNop7B9N0ESXjr2tbFZZT3vacvNZDECEmO8Yjavv5BUS6cTWT6DiqsX3NU3+qVc3FVoVFsBDiKBlkzoYT0rhLNam22/WEfwx/yFSH83jfuv7eD7fjFDg+QLWt79qefdn4a6HqgFAru2kcxv0JA2VDGSNWXKJ4DwCHAkI4D8UiYntY8NVBbVV3jmPr+ne2bH8xm+l7R3dy1EgWJSDy07NqFC+Qt7f4jV1/9+unbHzxywZvvPXWHL92+v7I3jJd+GLRdCSdg8daK+YHCByZOrHl60qTfTS7lnxlHY6fuNmbYqpHJOCv39uIJFN8gDRsIzwFFqYBHkOASDBg4B3mbSvdhwg1rLPLQM9dtWtKy8PsN/K31vT3l7QTIt1bz2gVrzBMWL+5eEQi0WEOGHZRhuFs7K9p6BadM0yNANz3I54uwduUqaN/URjiqEZ4zfbq9x/SpT08ZM/LjpvqqcNLRjnr8oIPGfavZf/nt3U0HMESlMrtG4HMchvnGO/hS4m4U1X9g0qSGR8aPvmykbTxWb8iv1praMSnLOMrsbL9p0+dfXCfaDj80UQWWogGO/mEEDUI0DjmkSvY5ttpLki+34fSRr69eeeO1ra1/UzL9yyf2X9jgToBsZVH8HfPEhQtbV4uRX1ak+AwlnLisSIlLc4aHtloKKJcErSBDf3sXfPL62/UrPvz812sXf3G/meu5eniC3Tth5+i7D2hiUNMYSv/yM41vipWLA+OGJENEvVEKPjVixD4TBwbuaGKphbVq4ZNGz7qukcePiVHuZKeSYeI8DUHPo+MUQ9OaDZV0EVyMBIdkoWRi0COb+gDNvdfDc/M+E/PHnr96+acLAJx/+cC3wQZ3AuRvLJoPlFOXLy8e+Mniuzt4aV+7ofEiLRD5uIzRpZLugungQBIsMDgFmGxKmc0dTWu++vzUSteGV4VNufd/N23kpfdMnTT7xl3Hh+eiSDr8iw5kfMyqCQYiuFwZUR3kX03i+sNDaOe8qFGZUeXaNQHTYChTB8wyob62BjKZzOAYHcMFAwVHgeHApBnoMcyiLAbeL4jBM5BaedQZS5a/fseibu1fNMztopmdAPk7lhED8M5YtCh/8HsLf/s1wP4dNHdgGmPu7FXsVb2lclY1HZfUSXDzFmC6RaYEoXp8JDSrWqncPNRS3xhWdpYf3d/+1EPTJ9QiY5md+//xpa2bhg4N1hDOvIjrcXYpD5iRGc/hxSGkXcDqowIEaBwkFgHWw4HiJOjsywHQIhgUB54QhDJOyn2mvX5dIX97N0PuucrSDz3my8+fughtBLDz+CsK7ATIX5Hkb2f4sYazln/52Snrl1/UF5emlaLRH5RZ4V6Tld4pq15/de0we+rkaWj3diBCMSDZdiCGOfVUPnd0RNc/IDOZc/fhOOQn+tv9fN/b6iA13Lc/SNMBAeNAQBIsLAbAT329/aCqKmiaATjqW7VcwMSAlgc8u6ZYal1vWr/b4LnHt5PkbgWCu/K8NRuXX7pihfJ9fe3MB2Sl7aTCP00BHyxnLl26ZPmXX170Vb91hCwJk20ytHB1aw+Mbt7VHjN71hd1Y0d9aeFuT4BnHZYgmwDD9i4AaYCg/gAAEABJREFU8P9Mp9dMbwpURYOn8yxd5XkUsHQUXJ0HpUhDV58CTCBl6MAXu7Klvs6+7JfdueLjPap6RYZnjupkmZlralJnnrJ+/SsXtLZmUDL+mTHsaHV2SpB/wYq3ALiXplco/aZZ6MuWuEJBg48WLbHe/uCzIe29Ax2hmrrziUj8VwO282yZpt/VJemf2rVjpDSir7f7cOAFUFzK7sgr5faiuanbwt8ZoMWn1rnY7Zto+kf5mppDO4KRg9JC4Kzj2zrvPmnZyg8v2bAh69tU/4Lp7lBN7ATIv3C5KSDnmKY2TpbVAu0x9xMOd0M2p1lfrG2ftyRT+X27TZyUWbr0rn+GUa+YNipKWuptNkFwXWV9eR6jz2nVscnLXH3Cm5HWg57auPHkI9esu/L4DZt+f9Kq9V8hCbFFSvzT6ty/kDTbbFM7AfIvWro7ZkxqwJzylZl0T4Gg8FMrMv5LTSk/JGvKabm6+hMvWrp07bVr1pi+tPnfutwvmRR+kErtsqUcqoMncO/Scik3VCHJx/tFet+VVZHHzk1vaGvp7VUfXALWTrfsFmr9a687AfIvoOftEyfWUNne34R5vDog0PP6OPGNI9qXF+d1d2untrfr/4jEmAtADMXh9DrVPsAfmv+dEbepYd+B7p65TDh0X5Ymfn7Jkp3qkk+bf0faCZD/TyrfMnro8LiZe7COJfZvjAQTVaFAU7WjNjyy2+R4y5wG9r45Y8SrRg+57+ZpE37pf/zjf+uuakj19ASBn9IQ5F5oASBrHaKBtO0bA5H4WwUPHthRPxP1v9Ht/+o9/n/V8Pberv/RjsebJs2t0ZRXahniwFoUeCPylQBWUH5D5MsfV8nYkmY1sWoEFls3gRbObTDc85trU7v6P/iwNdogMOAX1dZy1RJ7oxRg3+M8bxM3ciQXlbjHgsGY1qsSV+wEx9Yo93+btxMg/yB9/Y+MPzl9Tu249oGH6kG/bUwkNkq0AEjNBU+1ADPNwJB4PEnKcl0Ux4aRslYTAAqSPB/oW7Pm2aij3Xf7zClN5zcNfhTlz70jgLhh3PqJXsmnTEt+yolYOGjyDz3MG2Lh5L1GMLgzwv1nav37bvB/X1fbfk93T58eqAkKFwvl9k+H1xCn4HauHitrCBwUEIQErB+wiwZBLmdBIG0w5ZLd1dPT7tHkL0qaNo8X2TcYx9hXUitP19F2GIEC30KVa8bERZZ0ZklBfhnmET2ObJIY5p2Ur1Q+rxjqq/4nfbeU/bded/DO/rxAOzgd/tfpt4wYP4rKl36r9w9cEWTo+nIpD1JQBJxmAUgOTBegaNjQVVHktOMMDDjuujROPFiJRA5crGg3LwtFXywEyfPJoHStoSrJkEf/xmtqErd0zBIcFeLopgDFLhfBNGJSdKhiGAmbJR9E3i95S7md138vBfB/b3fbbm8Oy8Xzurc+V7Lfylbg856svak9q7ety+c3tcu5ZelK+e20ajzYTXKXtZHSwcv50Mw/jBxzwXmrVq1FDG76nqwLFreWs/3ybzE+dLwJzvA45c6/dcKwBFLb+GGOKLEqJgZxRhOlCEPQIqmTVLrfdN/fdqm27Y98J0D+zjW8fsUXH1td63/RN7z2hDWOuWcfy01tp5jmNTg+4WuanrWRYQ51urvPPWXt+gcu3LDhy5bly4sLFixwvts8CuAZ8RFjF+kOXMUCPiGqOsiWcQ5KcNxBIYYPRGhxdpSPjgPbvTAQiLwXbW21vtvGzud/HwV2AuQfoDWyGVxfErSg2MZF7e1FP/mBOv/ZZ/x5f+d3KPyv+cobNr3iGPgTDIbvHeDo35tq5X6JJoOVQv6wYl/373FFn4277tt+n//AEHcW/RdTYCdA/sUE/Xub8xnfrpD3hkWh1NRQ5w5vrAfHNSEcEqmpU6csBk0hGYLY/Pe2ty2W2xbGvBMg/8FVUphylW6qGklAhmZJDSc9ryfbXSjKuXclnmvndJ1EQNq5Rv/BNdpJ/P8g8Q3QrnYxN8kw9JtVqZhqWwZGYWCEWXa5qympmkC4GQULhf/gEHf4rncC5D/EAmc1A2WALeEsLZque7wsy9GoKEFdNB6P8dJV44aPGGam848kHPaqc+Nj/uwO/g8Nd4ftdidA/kNL/+ASsHhBWkQBoW38ehWzbvFSsHJloBWLXL9s2X6Z/jTUD294DSPwjXY9Z/yHhrnDd7sTIP9iFvAAsOdmzuSemTGj4bFd9zji+qmTD4XvOYJE4H5advNCxYGoTUPcoYCRTWBcArJKuXd1uvdXS5zKk1uLot86Y86c34yffth943apu722lvM/Bfw93eyI2f+yOe8EyL+IlGc1N1OPTp8y492pU34RLRafo9s7PosU8g9LhdLJ/q+abK0blSQ9zPJcwgagUcSE8QigAQcSReUd0zJLpKH5v+cL3zl8wz2YGfjRcMf5bTLd81E9wBvHTJr080enT59xY/34MCqOobTz/BdQYCdA/gVEvGLy5PiI/oFFUqn8ngfGVR7nHRyKhaqQwR0hVWMqbXLxrXXDqKptErirEx7oFIBBolIYjiBCAGWCC4qCMrZyTpoUwEvZKayWj44M0w2TUsE5cUdtCRXzb+LZ7lcvrR3atJVaO7P+CQrsBMg/QbTvVpErlXJ9JILHeZ7HTIPyDBNEioIASUG9GArECXrid+v4z6nJk20Pcxwb90DD3MFkEgD+r6oTOI5RHo/55b6bakh7UmM8nEoGGMD0IrJiCkDIBYjiXmhoIEhFcCH73To7n/85CuD/XLWdtb5NASMYdD2B/Eo3NfB/6ifi4L6xDRSyJ6oZKRRQnEPmbuWH41avXk14nu0CZoNJOqAh3UpByZckNo5bmmna3+5nyz1RqOxDgS0WK1mQQjzIShlEloEgL3q46y7LGQMm7Dz+JRTYCZD/hYy37jdBuHnKuNFXjht+9892HdTv/6qGb0Sni4W3TFNXSMMC1jYhgqJ/nGMALpeAVEqT56xezf1VRZSBuwaOew5gmAeAJMlgQvmu47o8iVCD7r99+t9KFG23ORQUgOJokC0DKFFEUoeCTKFs2Azz4a3ptPrtOlvu58Jc4mfjx99+457Tm+8+4ABmS/7O6/dT4K8B8v1ld7g3jzePqZ9qir+aznDvTjLtk4eXrJtvnzmT2xohTJf8SKnInaYmA4tZoFf6gcc1kHgLREKLgVr6K7sAS6xxeccBBgGExlyg/Kvtgc+5FEExBIax3+2rrmzUU6YzrJDLgIUApWMkVBwccC4AJcuTyyyzHANAaPvLmigDO3jY6utmcdyPmgH/ZAqpP/bojEkNfv5fltz59G0K7ATIt6nxzf3dTU3M69OmHRfNlV/i+/p/Iuaz1XUkGUgZ5iFVhcpk34v0TdE/XyqFgo7jzFqGZcFxbeAYHEjSBtdUgHGM8Oh4ePfnxowRH21oYP10e20tNzlT28ADxtO+We7igDkAuIMBhdy8HEGGYkBVzR/RHGtBdfwxPT5hgtDISbtKBBmNBkLgovIuRgNQAsiaDTqBb+4uul2wleN3Q0c31TrOUYFinpVyBdZav+nopGG+8djec067aZ99glupsjMLUQBHaef5LQrcXjuTo1XjGSefnl8dCU5mHQtJABz83T3C8SnRsi7f2sc/rs1kZIKXlhUVQ8UZDjCKBMMwAJBkYDFgqhn2nJGRwEPDI8E/JCl8yUgKWy8q3pcSxaYwhwDb9ADHGPD/OwJN0SEVlMI1OPnxcLuyejbBLp8aCD3fHAw91pCSfhbk6Yieq0CAEAEsChgEECR8bJHjP63eSlDRd0FXB5hfSLQ7nEcFKTSuCBMAyYHRQmHgoUCx78Xb5jTHYOfxVxTA/ypnB88ody8ywoJUCLCcaMplkFgKSQENbF2FUIADlDe9juP2/i6ZWtDmz7PsUpwiddk0QbYd8GgacJoBAsdBzxVGV7q6juFU7aAalhtTLQp1AZoKYa4HlusCYDhohgUsJ4Ao8aCjviMcyScJLJEivZFYrv+gUm/bkZqcG8mzOHAsDZqiAu1hoBaRnYO7tsiS68NpmoTvHFNUdaZXKewPloLFBBpCLAPZvh5AMIYkRWNhD+NsEqzvVNv5iCiwEyCICN8+WwDcARx/QDGcNOLPQSlA4RiQhAfZgV5I1kWToFUuvKGmJrqlnm84jxo2bEycJpsJzAtaBAFlVN5CxrPmYYATNDjItggHwiDQLKjlCui6DpwkgEG4gCMli0AGN8lRkC0OgKojtQw9G5YOlmcAidS1SCKEwENBRS2AYlbAYVygWAxY3IQgjQHDeGx1RJrJ4pmhaA4kfHP46lnM0C4Ps0Q8GuLAKGWhku2BpuF14HoWyJlyXmCj1/3s3SWlb6rsvHyLAvi37v/Pb7eVDlaKzNd2MPhUERkTJkkhaWBAUOKAIwAwQ4UIeBMniuHjX2yYFHqxqWnOFEO+i67kf2+VCxexFEkwHA9MMAr9FQVUjAKT5cEVRMjbFgyYumkFxHKnqeZX5dL5XvDaF/d2rmvXtRXtmrq8z3WWdZjqik1GZUObUe7r9+xMWzFb7igMGCaJeTQClUNioCM7R3NNMFByMAMUrQTpnk0nMZby5vRRo3738Pjxuz80fVxyVjJ5Om3qMyjkJbORxwvJNAijsaQz/VAxNAcY4flcD/YB7Dy2SoGdANkKWR5cssRar+v3b9K0paYgACbwkMtmIEDhELBsCJlGKKyrvxodJT6oxowXannsnKowO9bzjDAFOFSKGiiKCzgXNgYMt7B2INu6ulj8YLUq378BnJ+uZ/FT+6LhPXtttnaTw4zi9jLGfVnd3bxiyOhdstG66T1UcNoy3mnuoPGJbRzsU0rEjurH4ML2inLfqs0dH3QN5Ns028sj8FoGz0EFAQbnkNolEpBI8HUR0jo+XB54fSTJvU95xi8j8UjEROM2VRcEUgTXwpFdL0HWtjrLPH3zqe0Lddh5bJUCOyRArjnggMCte8w69dY5c8ZtlSoo87JVqza5kfDD7dl8xXAxiIajoGZzICIjtxapTkmREa1KYRKolXCAoQBDcQ8MgcnkRci5UOpUtC+yBPk7LRG9QE7FD9nMiz84p6PnvDPWbbr3zC9XvXDh0vUrLu7u1ga/qrsAnJaFYPtf5z0bgdPPu3ZNRr6gtT9z7qruFcd9tfadkzYO/AbflL5Qb4gfbAlVexVp/sy0TdyzXlY+79aNouWRjlYxwEPjI1Gq43mRKhfHEJoa8qUHS3Ogmw7gFIukDg4lzVC4ePJ3Ry9Z0oamu9Xzrn13H37bjOZzHpg7t2arBXaAzB0OIPObD+EnV6zzI7nsTeFS+nd3TJrU8H3rrDD8s8FYaiVgNIADEOICgMkaEIYOBRTFxpBEiUWrIJc1oKhjxbWZ0vKvCsUb05HQ4f3ByP5HLVv5o6M/+/LJs5esXHftmjV/Fd32ALDnAIgtyX+Gv3HMQ6M4e0mvevzmzR2Hfb3xhRWpxss3MvE9ejR3v2IBWlyZWqUWXTz5ho4AABAASURBVIMGHoKsBIzhAqsbQGoa8DQFQOKQR+DRkR2km1hnWnHmY/DXMRN/CA/uveuIQDr9wFDFvHmSbF7zxyNOTPj5O1rCd6QJ37rffsIQSv6x1956QQOJJWpwtzlqyM/eMmn08K3RgcnYGM/wjxAYCS4gN4/nASMFIKPIIMRjUPBcWIes5nYgPhgIhC+R+eB+Z7W2X3nm8lULL1q+vLiF+VoAcN+Qv2/OGPHx2c31zzZP3PONqTPPemvchJ/FRgy9tWp4w/1SKvbohyNGPP56Y+NjT9XXPfD42FE3/mbcqCsenDr1xN9Mn77vvZMnD3m0YQ47v7mZ8n/21B+vL3F84F3YlfvSEIRbOihyNzkU//FmxXy/K1uRPTRukeXAsyxQtQqwAgOmYwPJMTBsaONjQUmy/Ha+m67ZZUwK+voeHMLQeyccK4D3dp7J9XRc/dRBB/mfFP5u8e36eXsByP+6SI/OmcOOLasXWj2brh6aEBOCiXZVVYZqGp/WRFGPXj+6dvh3Gwlzbk0A8LNx2wbb8UAnaegCB7zaaljdm86vLZTfWMsxx78fje5/0rIVv0WqUebbbfiS4fEJo8ftNnv6xbuy+PPDB8wv4129i8PZ/HNYpucO0TFakAPqJwLDnJUKRk6MU9QJ9Sx3UhPDndME2CXDLKelUVMfqMnn/lCbz3+VoHqWjAR4dno5f9VjTUMm+4HDLf3NQxLq1Pb24g9WLHl4KdgHDbDCDzsLysvd+ULRl3QCAgeBWWArZSBtHSzbPDlB42N9wG1pw7/eh8Ax1IQnw5izB+3ZQOMGYE4ZHCV9RsKzfonAyfrldpS0wwDEGaj8mCqWL6qNBkQ50wsRAoMqhoUgikFQ+dzs4SZx//ymumGIAUg/PT927J5uIf17yyhP0SwNbIoAC6kmBYxwv85k16iJ2IWlePW8S9ZseNM36rcwDGI4/pGxk8c8MXrCT4qp6g/4dPFtPl/6hSQrBydxfFQVRacSJB6rFZGRQLi0wOBoDUxkOCtgqSXAUbwl4NoQ9hwyRQAdtQyhnsQDtRQeSxHeGF4pHiGZlZ9yWulNp9zz9gMThv3yjuYJU3wJBd8cLe3t+nEbV71jxYOnWZHweTnHW9ORzhsqCkZK0SgKeDggl7Oj852tj4+NSj98ZvLkan8Debx5TH2wr/j8cIKcM0wMAFYpA2ubIHgWOFqBLfZsPlnUcxd8080OcUGLs0PME7PB2cXBnKhhaBANBoAxbbAzBQQQHBq5ANRR5D6jSPqJ/QoD4/ct5H5qpjufHjk0Nb6g5gkiwIKNdPjOfLG3YLi3aaS0x0lfb3ji0hUrFECHLykeHjs28uSUKUcnTfu5gFJ8N2hUbp4yrHbXVF2kSgVFAjQCGtkAHoUBkBh4aBfHEPPZpgKOrQLLYcDyf0oU44JjVMDRy8AQNjCkM5gIMMDUSyAyhFQdDSaHxyOzhgN2cb1SerNeL73/9C7jT31y+vSAB4A6AZi3enX+wJXrnulnrWk6Ebm+s09vlwkGKuitjSRoYyrcUOzYdP/E2uhVI43ilEYLHp8Qic4KqQbhpTMQQx45QTUgiFS1VCQCpGkIkCvvMncrn0yG7fTAt9N5fXdaXga3r8zR+PtkIIDUCwwF42wQeQmUfBFwpKNHcAKwfGFm1HVf8fIDVzdVJVNqKQ8URYHNckhq9K8qxkNn4ax49dkbNmT9DloA8PvGjBGl5glnB8r5Z+nu9ntrKOegGO1U1Yc5ZsrYYfK4CaMfIljSJVjaV84AwzCgUYTdMSygMQIY5F0CdLVRcFFBqlzBUEFDqo1NAHASB36wUDdkwHAHCNIDjsaBsi3gXJQ0BZCE4YZSRGJ8SJwdKBVuwXta33xpctM5T08fl3xuLiA5Cd5JK9LKahq/uxKrPmxpb/ptHaN1E20QlixDnOci/WvXnSuq5msxx9sDL5eBdkyIIGnJegAUyyGPlwY5FNOxcXIlI7I/WbCVX4yE7fTAt9N5/dW0rkZu29WOd9z6bPkTHSkOHiuBChgISJrQNAm6qkA0EkLGrFIbDgcFtGkjdQfArFiljkz+sXS9tPspyze+7uv6fuM+OEZMmTIn6lbeATV306i4tM+YRDCGKzmQKBcBy4GKXGQ1Vct7QHqGDaCbLpIWGGAOgIDUOw/ZNQMDcr4/a2zqyesb+2S7N607nT2Kvrm7XMl05ksZJhxyDQwDE/PAREBGgUhA4X3gEYNzCGSglUFEtgWllqCa8WLDEuIsqpy9rcbR3qbbhh/96JyGQZvh8vXrKydvXrXCrq2d15vT73dcNoOZOLiKCilBAN5wwupAFniBBQ9zAZCap5g6VDgaejzXU0nxvbzL7H/+svV9/vx3lLTDAMRf0BtWrUq3c9xRG1TjLZXhwEa7pIMoUCoXQWRpxLQMOBhARdNRXIMB2cPzihC4dqNFnXvFJ50Fvw0/XTVzRM3Q8ePvhp6+Z6M0MyPI0JJblgHTVNQGCY5rQK5UhNXrN1Ab1264nMVog8RpwDwcSOT5snUVaAYDWStrDQ1Dz62prT8tHImeKIYiJwQjiROC0fhZ4UTNMcF48vRwPPk5yQqguZAtaVredDFVR8DwXBypXTQEBCQRkRokofbNnAyCjUGtEOSpojyBk5V7yBzxmztm/I8r++wlS0o2g11VZrnLehWti0NeOdM0wUCu4FAoBLptgcuQIJsqsJEgZHUdyjTz3nrNOO3stWv7AADJFfR3BzkRe+wgM/1mmlchkGwIiT9aWyq8ntNUxGoOsEh1YZALVy2XwCNIMAgK+mRjU4YSTj9s5eo7W5DR61dvAcAf3nXa3JqcvhAvZ6bwLKYTHgk8HgDbAMAxDnAkmTxOhLLtGkXFyBgV/SUBY29OBaIreCBAQDY5Szmgu0VU1uQYxvl5LMhdF4+H7xzSUPWrqtp4ixgQzxRYNkh6WFhXzFrbQYLNhuMUnJpddrELsgb2UFdOXdKb1/OKjYNq4IDZIgyJjwIrR6L4hwBBXIQQ4JEUZh5Hb173/vMzJpzx3JgxNKDjVDQfa826Jzoo9vi1A/3tFlLbDIYCk2VBxQHSSgW4mji0F7JQULSPBlw4+8K2tk5UdYc7ETl2uDnDtStWdBNS6MqAGFrq2C7gCBCm64CJVBkHqT5ZDF/VwdJnH7d25UvYNzvm/OpmvrFpzK/o7uzNE6vrH5s4evg5jQ21x9VX1z+bK1TybDACKoZDT6Hg4LywvmZo4685nj0UJ7kfKyX1NZagK7qqIRXLRuoXCflyAfigAOmBnqGFYnZsIZ+dXsjmJ/b19Y/s6e0dX1HLou5aowulQr2iG3ylbFylyaYnq9jXwNHXA80dyARD5wLNyiQvguERVq6oAc8FAWwSaJeCAJIqMReo5ni8MdCb/iWOGfOvnN6Y9Fd8HoBzweauj8vhyJHrZG2thgCieSZYYIMQECBTKkC4praTSMbOHtjQ2e7X2RETvr1N+oFZsxLzJ4275qEpw0d7gIwM+J5DUdL18ZqVFHBguiToJAUyRUGnoi9Pc9yZ56xZ896WmneOa0wmQsrLEVc/n3NMirXhTUV2r8lXzIfKJflDkudOXTnQtbSfMFawqdilDC8djsyLDYFw7BLN1V9wacztGkjXOgQOGDLQFSS3QpEkyIoBkarEG3w4eH+hKOuxSPJdxbGnlClzWl/R+oOCGaThmuAb9ZZl2wIl6rKq3MNw4qWBZGgGKVCzipqshRLxJ8qedXfWqmwwSAAVqUkUAjqueyBpGEQdHOIMmYzizvEjXeaFW6aPHr5lbmevaF26WYzP7TOMtaarA4e8bJ6hAaA6YqRqtcYncy0A7pby373+epdxdb/dc7erH9pvv8bvvtsenvHtYRJb5vDc3LlEUtMualCVc2qy5aefHzHkIhQfELe833L14xxhPjR9xcpVh3mAA430+KILMIB7azMCffG5S1d8vqXs/BkTpkQ15w8hx96nSmCFKMOyJI7viozsLqWiJTZ1d/7coYGKpGIHAMmcns2X5m7qaH+9vXXznd3d3bvbmKeWTDXIhqR3bBLzTNSwDQQ4BgBPilBM56vkQuWPNEl7rZs797TLDu4UrcsCQTgQA4+iGNoe0tDwcTyW/DEQxGjE+BIGxKd8UDxtoJg9TrctQXZ1AmOIJ7AAc2rZVp5HXC6XkYcL0IG7HuiFIgg0AbxtUSkXZgTK6gt3zZr658+h/eLrr1drAn9sv26sU1wLcJoECdFkw9p1e+ly+UjUzF+dLcj4f2Lq2JMaVf1Vqbvjx/Fy6ZInDzgg8FcFt/EMfBsf/18Mv7C6rQbpICcFCCYVJrlJtQx/8xgw3rl/wshD725qYrYUThXTjbqau0WK8UmXBsjIZdBwZkOR5i477+v1H/jlWgDwx4ePmV6rwVMpktk1TDHA+t/tMPWYLZdbCpnM50KIn8dFxbyKOe2666YkhjlAwpnmCCNVhaTgHRhJHyQywWNUxy6k5cI9eUPejDZ0cFFcgSE4cCsWqAPlJqOkChTOPpYpFLsqnhc2XbwW9YYFcJHMF4ukbCD2ZVmDYtmDCqXSZlT/696+9HSK5WKOC3pXV8+ckqU8RTDE3hbYFxa1/LyeSuZThyd0ECigJRYoggQep0AyHXy0FBnLdQ+8+tCUKXv5c/XTictWf10MBM/os+z2/lIFEK4gQfJMTUW/6snRE2b4ZbakR5qa9hjVhr1Uq7n3VnnOxGqGSLi5/qOqSJi6pcz2ct1uAPLonDlsDLNvTrBsdSwQAEw3gLNMsklgZiQrufmMlnn6d031Yx+fMCwhVAp3xALUSAczwEI+/4pjD/Thzm3iiHVvblnYUSOGNo8m8Qfjlj0qQpIApgWO4wAvcaBZasgh3VEZpbSBCYurVVN9XSCoe6ujVZ8yONWq60bJdOAphlDWlLTsnbJafs0Bq97C3XcrtmG5JA4YUmE4koWYFIwKNPMLhiYfSCSTR1MkGaFJahrmeg64bnVAFL3+/t4RHukcVq4UDqitrf7cxb05BE3zPCeVquvqLo5E4wdKIr+gL9t30EB54FSXUD4Tw8xJmmt2aEhUWchzpiEvlaMZSIq4gOeL2C7JqoaQrM1/aMaMOVvmfMry9Z/afOgKl+XTZcMABsMhhZO18bL84OMTpjXeN2xY3YLGhrsSSuW3I0R+f0nXJBbFbWIcBXGeTpi5zC9ePHxOaEt728MV3x4m4c9B7++fIdn6DyhbA1MpQSwaBBwxB5Sy0CQxqZnJ6A/rceOTSbHYkgSJH8SiYByLY+CC4zoS/+wKovT0vAXg+G3dPaGpViDc35Yr/RO8UhHCBDUIpJxetjJWZXN7uf+ZTDl7H8XhlO1aNtqdY67r7qYZ1k8dDL/QcjyD9LzHRC41e+LosVJ1NFwliczhwZD0kkcie5okoVyWgcRJIBmCxCh3V5ewXomHpRsQsz0f47macCwUJVhSJV0HE2hS1Az5DlZiU4LIfyjn8gcRHqmatn0BQRBH692vAAAQAElEQVSjXdK9SDH0N3ASP0JgiBeBoG6hOe45GzNG+KpWOBFD2hmBXMwY+JKwiuYAy2Sg2rab+N6+Ox6bOXMyfHMcvWzDsxYRuKlgmLZJuOBZJoyIRsaPI72X68H+PMZjF1SlAsM43ASRdICmAJRKHkiwwdPk6ZLFblUl+6b5be6yXQDkrOZmngHnGoEjQgRpI+O3AJahA7I3IYCYEVdVIFCqFQMhpbuntkoKgquZoJsGZBXtk4GC2nIbijb7q3f72NpIXLMeSAnc+BQCWVjiwbKRwYAai1cn38Jod1/bxa7OG+p1FVl+OBYMPdVQV/c6IGbvz2X2dXAswXDcQ7Zljcct+wWzWDqIdR0y3dGxXzISJGqrU7pt2yAIEjhIImmmDLpRBNdUGxCwDxIwLCkRVCjEMLuTjjvJlFF8xTGRigQweuTQLGnbFO5YzenevvWu7a3oG8ieMJDOnZju7botyjENksTOJj37h5itN9MkhdE0DUWkMvmxE57nQUGRcjmfhRBLQlLkEfPHJrnpvgfunTV5iD9/DMBD7unfuIHASzoKeTA8C0ouC1wlP35MRKoOEhgYlTJgYA3SBWmdQNIMGr8NHEaw3Zs6T/Wlud/W9pDw7WESvOPQFdNYl1dKOQ23gI9LoJkK0BiBFtMCyuOAQ/GJYq4MQU4CvaQCRbFQttzWguuccUZ3d96nw/zmZqrGCt6XwLkDiYoKLgrAmSjop4MJOUMpyraxAUUXayO8NGdUw6jNSENzOzdsurGYKdxoOtZ81TZzmu1eT9PMIpFk1uG6IVR6eyHB81ATDtXVJ+JXJELIH4wi4gxFg4Wu6ALIwwocGrdbzuMsAiPrB+76Myd6hfLYSEACQ6uAxBJAg/NebXXsrHgsGkoGQ2me4mtxwGOJWByPRyIbbFO3nVLpagnDYgEk9UjLBpERQNdsIFkBisjNDBwNTFgE3TOgrBXAdlSIs8z0WFn+9eOzJiQAHae2t+trS6Wfbs5mv1YcC7kKbMAwDRwFbTxFGcJCEGRVAQJF4A2cAsMiwUHGFQV8RdXMTF+pJMF2cmwXALlz+fKiXsVdVhH5s3ss7ZPNhbxCIsbSkK+V5QKAYwwoKEYQEoOIWUwg0I5XNNyyzQcfPL47s9FfSx8cEc08LU7gBwcwDGcwCjAEMAftmCVTKyTqq+4eKBam8iyvBqhQZ6U3J6b4yKlBVlylK0qLaetXkRT1sGOYdcim+FlVKHI1ZpoFiaVBQzEFDlF6xZdfzGpbtw7nUf+yogGOAnM26sMmCPBcDHDAgEHAFRkOjIIMAsmBLKsQQDaVUiiAnBk4odDfdzRu6uyQmiqBpXAJkIZI42RvXSy1IMoFbk8GwtWMB0A6yNawAYHQAZaXQEFgEaJRhQ0FlumeAwbuAEZ6KF5iQZxEbmDbPlCy7Mt8Dx+g42dtfZ26GLpOdh2LEXgwkOrquDbEg0Eo54oQiqagpDtg4SJowOl4MLlOZwJXcI21x165bFkGNbFdnPh2MQs0ics/XV/ZsGzji51O9ECVk67akC+1qgQDLiWB57DAWDQQJua790GjSeix7U87VetBVBUpEoAFPbWZNMs/D5KAVGsH5aFdkWAgU6r0I/fsmV39PfNzSD1RNeeFSCB6TFyIrbFKptvT1TtV1ZQi5XpokzVer4/Fb1HS2ekCTs0bVluLYb5ujhLH0EAiwFIo+QBxSAw0ZATLOGNJyYavdJIHXIiAYrpIeaGB4kNgoPgMTvGANDRwdBsYF6OtQgHjMBfDMGsvnmevdkyrQmPE5QxBnYXan84RFIZbHhAuNvjRFprhoaKhRllex1ju2bysn5zT5c8qrgk4hQOvWyAoMlQLLCdq8imTjMIhPk381E2xr1Vc7A3dtAAXAmDiGOi6CkhiQb5igI0HoKff2EgE665v94R991n03n2nLty+vt+O+4TYXlILgOt/KO+YFZ13uTWpw/IM+9CmXDYjWxZEQ2EwVQWQkQwDpt5T5thfnt3WVvLnfvPQoYGQSN8fEYhaUysDRZGgmQ5SrDArVl+7vGzqG2yKnFxbX3cDyfKltq7uY3O54rUsRdeMHN50D+lRtxEYN0GtyA+4urE5FQxms/19p2czAyEcteUhyVDIFaA6VQMohgdd6SxEmob2DOC4msbYRavzyrGKFH1ydbZYqEiR8zos5+s208lLw4a/5tAS6Ago0WQtZIslECQeSApHEjHPFdI9o2tTyTxDEBG1XNlHKVcotaKCJAWhUCwDxfHQl8nKUjT2qkdTq/vz+R/kynkJKUtXOYAVKYqCAM8AZZlQHugH0XWiAVW+5LlpEwaDfteuWWN2V0oXbSoU0rqDDY7dp1epVAJNcQ2ciz1LNYw44l3WuuWEFQu7/XfbW8K3twltmc+8xavXtFPKpWR19McQYJSiXgIuwIGF2aAQ1ntG2Fi2pWw8TJ/hKuUxONpVXcIBh8DAdL0iF4jcZ3BcByaJbzuW84QkBk/DafbUUHXyGZ0jo06Ae16QQtPHNI04JyaILzWmUpM4z32olM8OpRkcTMf22wEgGeC5EKT7i2DjLJQA6/+yr+PE9Zj38Caanb9s6eq2jwqVHw3E40d9SXqPrqOJX3TFo9e83dV+RnvReiFTtLP9mrlerKnJZ2wddM8Cz9QgSJKg5fMjkcH+K9vQgugAVhRANkwIJFNQQTu/bNvvKbJ2TqZY7Cor2vuahxcJEl9qGc7Pspm8mquUgBIpCIdEIJC9QdjGVBH3zn4OBV19+pyZTm/OiaG7PIK1BtVOCoMA2mySwaqLkN137qFf/nF1y8KFtl92e0z49jipLXMqW6LtCUxD0ZYZhbSgXysCikP0mgR1z8WLujW/3H1TxjbZA/nTJIxgAgwHLGI6VZOhoqtrO3OZXxfU8juq6VSigRif6embC451v+OYf4hWxa6uIA9UMZ+bl+3tOd2slCVLlcFCdXmOAs3QEDgcKCk6uAQDGBsAKpIy+LrGq7s877M+JrjigjXrf3LxkuVPtwC4aLeWL1q69P2LFy3SLly94pWzv1p075mrVqUHgtIVJTF4jEwIB3QV5Q0Oip04yGahGQZU5E0SWBLnKFykUB7gHliuB74qaHoAZV3vQdLjuopdJlieuYQJ8fNd276SBOEaAuxnHQd/lZUkUBCgMFQPQ4DmCYzWMumj9c3rR/v08ZMsio+0pjNtuuuCQeAwIJcAWGJEn8Ko/vvtOeHb6uQQU+G3z9z6L61vmRPh5Jl8rvcMNsKSZR7AS0WgDPjLXWl9jV/mmjFj6Fqa/enUVPUIyCqIowwIkzyINAskS99NUF4Ic4kk5RLHBQjuesaANeWB7LDMQN+jnqfVcBw911O1j2nHcwPIHSUi28b1DPBwCwDttBTvt4NsCz4I7UUVNsp699LswIPn9w0c+eMvvsj5Y/h2mt/cTH372b//8ddfbDhhzbL3igADHV25Slmz8oaLQ9l2QEolQFXKiFc9wMAF0zSBoClI1tZBXy5bIHnuNoeCoZoL95EMe76lWz92PHcaTaHBmTwKw1DXVipGF47R4LouGjIOFOAQoZghVYCd79MH0PHpqlVZqir+mh0JgMqzoAsMrO9vO4gNlyLo9XZ94tvq7Bp22WV0KJO78L5J42bd1Dw02IJiIT5ovj2fIVJo3xhHVYFtQkFRoD2XHygA9XBLb6/ql0PWeI2TyRxK6DoZRm5gzKVAVgwQwsGviAD5SWe2/8L2zs6fshQzytD0l2prqs8YO6rp7pFD6+RsT/uZnlK8KSZJL7iGruNI7THUCniuCTxPI0migiorwLAiABcoR8aOu3uzB2+2rViR9fv+bnq4edrheEn+/LHpU4/67jz8sietWKGwtbVHkGLiBwwf7AdWgO7+NIgiDxJHo6CjC6augYLmWanIDidK79GM8Klp2TdgJLEPK/GZSCJ03chRoy6NRmMfWyz+oBiO7EUJQcsiaDBwDDCGAtdxIEBSmNWXPngCz+/i970AwNEo7HcdhcLmbEUFF3eB5bFkLMAc9t2x+v/vyCMH7BZfcPAP9r5n9uxLrttvz+l+G9tq2iYB4i9K1PDmjqSYK0ZY2ofDZWNNk5p5emzz2NN+09g48YFkMvHuqFHRWKEyN6AZIlZWoDqUBFIILukrWeu2LNYQjz6lOixWGbqM9l8CcF6CPOYWsoR9mxHA9wrVhg8NiMJyVmDfsXDyxtbunuc5htyDdvSfplj20hTHuMXswK08Q/OOjYCFgEFiLpSyWUiGwxBE7RULitVXVr5eK5eu+emG1eejsbtb+t9yfWTy2KO4St991awzhc/03Tt6xpTTt7z79tUHSX+xuHJta1elVNGt2rp6qJSLUMplgPBcCAVE4FgWAcUwqpOJDwxDu9LSjQhNkX0sSxcomo8i4fPT/mL+MRPDj7Bp9iYsENqo0VyrTBJQARtoGgcwLaiP1VWHgD7n7qYmxh9D21dr1+kO8TZHchBmWJDACsSV8um7Th8Xf27o0OAbM6dOfm/OzEsml/KvxtvSX5IbN78YKpevjCjqNh1ZR9Twp79tJWHCBC5EuDN4U5UilkUOF4TqRhI7TBgYuGWobC4YYRJvVtP0faIDu3PI+xJkRChlCgrmks+2fCM9HpgwIeFkB470NBmjKBxs1wbdMkEHr9XCAG2i1LWGaTKJeOJ3ns0wVbW1WrIqVd3ZvnkOskXmRznuJA4jE2GBERSkk4s8B4ZhgM/9gVAIKpUK6I5lRBrrbxmgCd/9ibSkv6bzbyeOmxfOF25MAVQ3BniowiDJpPuve3Ra89y/Lg0g7LKLRQxp+DVTU30XHY0+E6uqtSmOQ+MHsC0X/O+coLHwfR1dLcgumjF8WOMb8WjsVMewJvT19TzR1tkxtqwpTjAadjKFglU29UsIiX9dNizdl3aaZQHyEIOhq6Dn8/uGA0ydP44Wv3lOfMIxvHKxawCiAg+4XGquN7AHErL2Bmxoeyk8ULye6R/Ytw7DhjTQpJRynXBQ13e/efZsyW9jW0zbJkA8jx7Ido4mWA/tnB5aKA0SFg5DgA0PFWLDGxK1U1RFP5rguLhlUagMC2ZF35RJF/78YcSUQB5XGxbQ9ugChtQiFzfBxS0FqSyPGGVrQ6Y950lEiIjHqw+KhQO7MhTxfn0qlWVJBkRGSqolY2/PsMbYyC0cCTKgGTo4gAGGjGjNBlDQju6IvLZc633gtC+/fHZrzHH35PH7BDXlliqGa6pF9bz+AgRxAqpZJpUoln795O6zj/5uvXkLFjjHLV06f51qX7mqp//q9lxFVmwC2UxoT0eGNsuywCBpEMCp+C5jxqZZgmgt5QsP9bZ3HorZ0DFy1Ogbh45oOhgD9yTL1ZfkzfKMgUL+YUt1M+munJqrmBkN88oWaQAnQBS1c/yWbyISStUSQ7bbEkIMbNUEz3JAU8tHxBOBWSGBq2dogiUpQP27gCPbKObZQGUHaoeEqCHfnce28oxvKwP99jh5Qp+FyXNodgAAEABJREFU4xAmaAoYHjGnXAEec5DopwBzDMhlegHxCOhoF2RFARm0lqvR2Id4bbrgt3PNnDEiyOVDGM9BWjcOBEGAi/7JhqI7nveeh3vdI5rGXDdu7MRlmYHMHuvWr7956Zdf/HLdujUxC+2wNOICEsN9VQYEQYAi8iYxyKtEEizgGA04I1gazcmftbf3LAc17/f53fSbyZMnpmT51zEMhogUBowHwKJJMWgcEg6QALfO29x+w80zp077bl3/+ewlS6x2x5rSZzslm5O0dL4MGJCgaMhGQNIQ8xwY6O8f37Gp7TIM3AaW5dKhWOC8dCY7dN3G1tuZYKBYN6T+8pJSPECtGL04Q346ZsKEyxI19T8KpRI/qRlaXaBIm8QV9QBFgEFj/NT2hToXCb3tuADI4QUczaAxY4Aj93AkKKA4UwVwzAXTUCHEUgBGBWI8GxEtZ080PQz+1+O/rwD+3zek/31ErkPPqK0eLuVLFSjqFQjWhKFko3snD45oQHJoBCQBA4mnoGAUIQuK3Me5b569BCy/9UinXoWV9ZE0TqNHEiUGKJoDQQxpASl0lONgL9M890vbc78WRPGCeCp2ZjAeftD13K8czMroKAaBMAI8Al9JtUEMJEErGSBRHJRzCvBS4q0SLk3Oh1MX3/GNOxl18ufzjtGjq6oV9fYEwASe8kBzKpA3SuBQSP13HbBUFZLI8B4V4obWVUq/bpk0aqu/H9wuwFsVjjvNCwcv4AIh4EUJSI4H2bbAQ7YEGicekkQBBTCJYCT8saJqZN9A30yMJBNd3V0/QgH32kSi6kkqRrpA47evS3f+oHsg/UAoHNvNAedJRakgpi8PEzH2z99A7NWV1/vtSs5GYCZxBnAbbS3IlU0g9Q5F8ZFUMQG9AhN58zAKB1akOYEmD71tv/34PxNgG7rZFgGCdRaV2KZsqURHq4CQApDTFAQQHZioBBZjQ1vPRihVsqBrFRB5GkpqueQxwcHAYAsAGcep6QKQEcLDwQMCTNuDimJUXMc7VTPsSWiXjbW2tYe/+OrLUzZ1tT9SlEvXo+1Zxkj4eTgUuogTmbKLeaiPMngYhfpxgSAYFINADBGMdHy+sU1fFo+3t6xrffu7vHD7zFquUTevjePuXgk0NgoMAMwBkiaA4iigGRJ5kiww1CLwSPULqMXmkQz26625gG/5dH3lzNXr31+v5z9oV8oDA7oOKuaaDoGBEJRA1jVQkerHcyw+kEnPcACjkrHkBfVVtecMH9F0I8uwk23DPQWz8Ms9CqNVpTIcJ4h4Lp8/rbOz8/xULAapcDgmUswRLXPmkICOPK2tyoDRaSIRXULSCkgKcCTJbccBmuUGNxoL0VUGHHSWAZWmvGVtm6qVXM5D1be5E9/mRgzg2YnobVmWvWxdQX66K69tLmle1qAFNYe8LwpiqmR9CmhJGNzJaNuBIM2tM8p2yZ9roLaWSvLSYWGe52zbBt+wRYwDZVXpLBUqS8uycl0iWXVGdXX1tTV19Y+TDPmxburpQrFwQlkpz3fBud1xrACBmJBhaOCQ5GEZDmhegLSmFFsrxV2J3q5jtxZdnoui041G9MiESB0lMBjk873AIKCJBAk0gYNSrgAgOwLZQaDZBhqbClUBkaNlZV83iJ3tj39r6Wta7y1GgzdrUekXTDR2ZSge7ykpiEUZAlDD0DR2+KpYKHRjSOQFkWUOLOQzv0h39529ZOmS4zL96dG2Zk6Us8W1lOWsi0pBL9uXAR0FPQ21AhxS+RjbOoitVAS/74tXd+cHcHOJLaA5h8KgMziUkFprMgxkKgrYGIuCsXipQzZauxzvD+0edoVeVTW3ZckS1a+/rSV8WxuwP95fLlmy6ccrlz6IlJLTBgLiXnk+elRRit6wWbXeyVlmT3dmAC0rhjZ9CsrFkifygS+FZBKZzgABAK6U7p9MIga3XQswkhi0I1iW3VxWFCedyRznlMvvKKrKIvlSSMZinwSCodsFUTohlYydgGwOVfd3arQ740iXMDQdDNuC7nLBbpfL6X6GmTYPwPHH+d20ABnYyMs0Q5XlsGIpEE/GBlUU0nSAMD1wdBN80LrggUfggPoFwgWQGFaqDBQnfre9Lc++GnfqktW363blLsMwJ5ULpYAqKyDQLFCWDZn2rjGE697W09r2WDmXOyEVjl+Pqfov6qtqzq9OpU6iKeI8RBdgHLedcgALCjxExAC4aI6OLIOrKsmoIAzaIX6fRCC0qGwYdq5UhIqhAR2WoOzaOkTjX+XEwB1KVe3ZndWB5tUrNx991mcrb77yvcVr/HrbYtomAbKF0Be0tho/Wr6ufcPKdR+bjRNu6tG5w7IOdRArxTfqigsY0EDxQaXk2l+djYxav144GBvN03jQxk0gWAKQdxNUVbWRFNgcpGmbJvCARRB0tr93T9s0xyM+tT3bPE4pF/+gyerLuqY14H7LSLUgSRwYFoOqIdW/t8Lcj4xE+O4eAm2nfkffkyqO95ZsmyuR0w3KqgIYAgaBtCzOoyASiAHNCCCbNlLXACrIHVZULBjIKl3BcNXr39PkYLYHgGmbjV84BfVoVzGkqlAUCEWDgO4Ar5gU47pDq+Kx+sZkdYl3YW8O5yuGos6xLPtZpVB+N0BzNXFe7PGQge0i6YEhL1WI4iCI3Nd6IQ+irY+Bbw7bJr50kZ+K4XigCAxIhlbYROyA9Zp20MdffH7JgZ9++uwFi1vLLQDuN1X+85d/cgT4P1nvv6qavxDz0O58cXe3ZhBEMd2foUmaR/swCdlypSDr0A7fHIGwuKfAkpKLdkcCuSEF5AUzDQ2nSNhIR8TGUIDLAmXycqkoSQT3E9yxExEh8FJVPHF1IpzoFxne5FEUmyRp0DQDTCQ9OrP9MyoOvH/G6rb7b9jY8TcZObRx45uiGPpFJBIrEAQFNIl2eYIFEzGyrpugGCZQDAeRUBwMzUTXaHpk08irEIr/yp6Bbx3XAmBSKNbLcRIlcCLy5OWBQ2MkkW2AIc+bWZGRlLLccv/A0LUrVx6YsdOWZZiUoSlOVSqVNS03ZJruJs+1bIYkISEEwSwrYNsm8BwtuGX5zxKsXHG7AHBVN03wYyaZYpHMY14FBTIHWrYDUMC3Dvxb99vFrcBEa0QuIHlokS2SAM1yC2W33OZPzv9sEebYE2gKZyQkGmi0wIA8UhxLeRTuZCWGmhCWBLKaDVSPHz7sS8cqiHpRnmhU5NOsAfUNraQeQ7j465Zum0pJBZJgwMJIKGp6bc7Ufur38b+lQnMzzuE4gRkOSTokGEhauDgBgMYLBAU4MnRt5F4ySzKgSQCHkRRu27xQ8gt8f+s+Y3ZQTl9nPpe3kGeJRIYzYl/QKQ8Uz0BMj38R5sTfcCR1ezIcvUyQGZog3dt4mj7W8qwbHIF3dILoVHVFwW0DLNR/gOKRqkcCiUqKnjV1/pbPijU0yAhHchDZeRiO3gssjXPMyO8f3bb7Bt92h771kROeM4yiCNZAi2wjlylNMb3htoLml46aJoY5Zg1DoGmjqDeNYcjit4BB/IlYk2dwbEx5YODkeDR0RU00GqUc/GnMsPZlALvbxkuBfKbvjkx6YG/CBVrkJaCQCkKzQaClmO6wwtqLkIfK7+f70ty5QNCZ9Dm5bOZ2Q9YlF7lGPYIEF8fARmqbh7Zjz/MAwzCgMAJIpL6UlVyku6P1eikI5906YcKgofx97ZdY6p0hw5s+sdC8WcS8Dpqm47nA87wVDASzHMOUcNdOeY59nuVpLxI2vOdo6h8x3XqUxIjrpKB0digoCAyNg2t7YCH1z8MAMNwDHvPqOMuiAR3XLFzoiJFwxo//mLqBpJ+FeZYzzANApWG7OhAJt5/5/HbkSGlkbXKCEGQ93Sgh1YAABif74gCDurCt67heKEc4IBAwHKBwAliKBMtQCLVSvNNUypcGWaau0Nc3N93ZNZcwzHE8sllDHPt4VSD1YUQK7Y45EBhkHsOGXKFs92bL+uq27n6Mkzp8Yxn+xrH7p9WHJALsz2uGVNcbJoIEAoeDWM5CiAPMHeQuwvEA4QIw0gabNIAKE4AUnDhtFH82hBWOARgsBls7yLxBdHR1N7GBAKimBTby0jEIaJ5mcoVC7sBsMX+F4VqniwHhgEg8ulskGBibEMVgkKTCpOPujVn2iZ5hkI5lg4sEFiXwyJVdAYaioCIXw7lymfL7RSjwLJZqpxgSeIaDCLKb6thA49O7jg/Bdw4Pvn+8sA0c2xxA7pw886Q/zN7rnLsmjj/1vllTTnlg+sQTn5o99fQXxo4/c0Isdk7Acfa1KiUhxDNQlotQxtzsHPiTV8kSBJIgcc5A0gNtkOBg6AWKOvMcBxLHio5u0hwCDWaY4CgKGKUSiIhRlGyuzkbGuUDStC5XgGNYmDBhnDZt+syX6xqaLoxVVV+QNewVf2u9b01OEJxC8VTZMYm0rri658kuToFvrNsIdYBhgCOrCUcAwVwPSRQPZNeA9X0dFYWyMi7hMZV8/pxLkhN4+J6jwLkFSpIutjB4ySPJTQgkOtLWwMMxoGkaaIoADDzwf8oH+ZCB8GygbQd4lBtAQBJxkvEBRSKxYSFJpiCABSUJMMcGHAeWTbF/BoDqGP04yrR0HUjDATOb23NkoOq85/ab9aPf7D359PunDzvr2ZkTT3t/ysRTXpky9eybdpmCnHvfM/D/4mz87xjbf02Ry5ubg1whe5lQyD9Qp2vzG1RtfrVefjhQTN/Hy/nbqVLhF5XNnRPDHgGCB4AzhIPkRQkDxBVoFhpjc5lKkXDRzkeIHJgoG0O7uKaoYCLQVCdTgHRrYAkC6f44hJA9oBWKUB2NAeG6SNKokErEwXEtWLV6BVUo56pLGnL5V7If/HzZsg7UxVZPP8hmOqUAJgVaOy39ns2mNjetabv25XIdaJjggoOY2AGETSBRP35fBmLQvGPl8Kr4wVmaPidDYNf3W/ZyV3QjW+0EZV67Zo351dKl73R09Z9tEvgcMR65ONxQsxIEBlRZAaus+IY68u1hwLgAFLJVGARGFiUabQpQqYCHPBoEICAxDBDIjkGbBnhIomiGSbE4G0fdDJ4YS5V0w/BiSNVkEZCUYr5B7uu6JpAt3FObKz802vZ+EymkH+Kt8iNYqe++8ED2imuamgKDlbehP/g2NFaIWZYd8OxIxLNgGMtSSdekqzyXjoPHpFhG9EolMUhywAI1uKiybtglD1O3zBFFz1EYQ8B15C3CMAwc5OHRNA3trizQOA1KsQyY7QKKBQCNdlGkdkAASQsDxQLAsoBESCuWCmDZOjieTbZ1tE5KZ9vv00nsl6gP9Bb93crZsnChXagOllsD4pWXtg5ce966vhcUw20rynIWEBBczwGbQFIDd9Be7gGOGBZcAjkYCK1QIlad82XfC6csXX/DVR2bzgxsWtWzlS7+nBWbOGa0lAgclC/kf5mrVE7p6OxuUlUVArwA/i9OsjgJgHZ9wrZBpCjQUTTcdYfvwbUAABAASURBVGzw7TCepoCnOSBxBnz1zK9HIelDItlWVV1L0h7+Z3CGeckkaMqWS0XAUP0QywBWqpBR1SSqTRcLmzZWK3I4plegLiwRomnGYBs8timA8BEbk0jP5TETeDAAqxSBtnRIsgJILgYcRgPifdAcAnRkAFMk6wJGuVvWhTJMmjI8kvVwoHwAIHaU0A6IYyTiU28QMPFIFDQUP1ArFWSf0IBjHmCIAUhEKZahEEhcYHkGBEkAigauKskPZUDe8+7pTRL8jeO2FSuUe1pbjS1F8gTh8rxokUjaeQgkGumAjobqIHUL9YLmxwHnSJbhBcxv6nj+tQWQwPFvvie5lhbp7en9RU11zbE0RkzjSZpjEG0c5JLeIkF4JKo4vzUkNXlRAEBGue5poFoq6IaFJKUNFAIojzYHcNxB2pTKFbo+mOBboAX3u8bKGk5QJIHRgOiGpmXqUC0FQUSxm5BLglwqQ6FSApHjwTfkMQIjWY4j/LrbUhqc7LYyYCOD0YJIg4NAgfRxCAsC+DpzOZ8D2zKBQNYthmGAAQGCGEJri2MUQf95UQSXxAXE6b4k8GwPPMQ4iqwhpscBRzsrQRCQyWQgFA5CICCCghbYB4iH1B5AuzyOqOV/mldFgTQVBdQA98BE3rJhjXVpibO3MDL8PYfrOLjA8BbuN4oquEjNcsBC7O8AjuZAEBQQOO2wjm8poQJ/x9kCgDMc2xpPJvpkWaYZpD6SaKNggUJqIwOAnl00R5wkwLczfHXS1DUwUDTcRhsBzbHgJwKVwfz5ei4aAwBOAKIo4VgV1dkyDJbAcNuzcAxtGoPeMuQUcFUDSSISAcyEUCiEvGciWB6AH9vhRcnGFMXdUn9buaIl31aGisaJNFgVt0WDdEEKRUFVbMCRNGAFHgzKBItxwLRkxMsW2rUsoCgG000DLRGqi07X003LqrgYiqKXFBkYIYDUKxppT4gx0cbsISbleAo0rYLAZQHJkACODQQCHkUyoPufWqUZYDkBCJIGpI3ZpbKdW7e+i8ilsSTq4u8+6+gII7Ec7iAm9DAk/ZAU8XV5BjGmh1RIFbOAlgSL8zzE2X9fs6sBsHImd1HZNKoxAgfbdIBGkoCwcDQfDKlxJKhog5BRfy6yvxi0KXAIGAyOoflQoCO1y0U0cDwTIcIDF43DQ+Pxy9mIkBlFzcE3hwKoDJLkFbRBIJGKVDMB0dEBJKNBRVxlIRexabigIurz4Sjouo0Rimh/U32buaCp/CfH+o/1jXYrt6hqOQgEYTPyv6uBMFRcBkqaAzpBu8gzZApIZUIrCwTHgmYaBI253JZecJaUNUP1SAYDEUmJPFIDAL5LAhc87E8JEGhIkgTTNMG3V1iWRWAhAO3O/rMbjyc2V6VqfloXrT1B4o3Mln7+1rWloYG9b9yoWSmJupdwrPEYQhnuAhAegfZ5Ejwk3pDHCvXsAGHrVVGKvWf+0DG7+ob+32rXf7cADXhITdVdw5oanidIUg4Egyj7T/NzMACEE7ARGJDgRPmA+nQBQ3cII+ivXw7/89x9GqDmECkdKJfLQLiYx9KMgVQsFxVGdMBoDG0eFFKhKkh65FUd8IAEWRdtTpKA1EUScGT3OAwDXaWi06UiqkVtfyfyq28zyafKNjPYixYuL+k2/7t+FbulXQrd8jVF3ZClg7dkTfrXJYu9wSLEe0mKX48RJNq50A7Mk2TI80JbJlgpWmWHIAwVuSU9tGOjgCJ65f6JSdDdd08PcQ9OkeCDxDdaFeT6BaSTx6JRaBgyxG2sHbI5FQnM4nHznIgWa/ZgsCn4vsN/n2LgJ4FS9tmYBEdzlBtgEbfSNgkE2ukdjACDIMAiAEgU7BMcI5Qi3aNjVnlBfXfvlbfPHPwVFzSqrfdwUW0ti7zW0zma764b0vAkGvhgWyZqzyY8xPxoBOAhqesCgSQXyhpsyJ/nn0Ay+PjNHxfQ0JBw4EAURSBwwkmX5fI3LwGJixCOEKcaNuAIiFxNVZciCA9qAenOfse8XePZ+7Lg3Cvj+J1aULhNr40943vZ/lx/G7nBt5Fxbhmmp2AjbunQjF+ctfTry8/8avlV+69c+rMDujZfus+mjb/oEcUbdIZ/UXYdw8QRIyAOcIpyrAX+JCZKgYADJJN3cQJlYIAjJkRFABWF7ztKpRLgOA6CIACDdkP/3kY7ZufmdvKTjz/cr72t9SRX18/Wc5mTroXvB4g/hgcbhk8L2e45NRJfC3oF6eoVIDAcMSsFmA8QG/MVF7BRMxRSdXhwwSpmsYYIn4ra2jnJSuUAJEkI+J5j5syZpqca0a8WLb54/foNZ+ZLefAlh40D+MyOOkEtu2i+LmAIICgXwEMv/YTaxDz055sT++ZaRHEfv77juZoJxp9VLMyGOOUiunASyEj1xHjxzX5Vve5TMXTpYStbf7rn4tXnd3jBi+WGCZec8MXaK65eugaR55tGt6ELos42NFo01Ata3zQu+JY3CC2kvwEOph9+8UWuA3NWqTRWKRkyoM0fQixRP6a2lkFVAUskXJIRBxTdBhLtpAHkhvLB4TOGf/WTz0h+8nnFT8joBReV9SWIL3X8KLOhaoMACyM1zXJ0ZNk6CV5iCHboUMnvZ2sJAcS1JXoPkqOGSAIHtmVALBJGDIyDi2wCQJauL0XAIcAfD+kCkCiQx3E4cBQGPO6JErjNke5uYmvt+3nzFixwdEV/IiIGT8Acq4dEG4FPGBepjACoQZRQbwDo2UOT9cGDugUPgRTQjAAdOCqGXiEQoQdUjg5ISH3FwAC3IKR0BeUOnuVcMSEQLNglBUSKB7lsbFry9dd9vkvbL4ABeGcvWWL5Y/Lv/bxtMeHb4qD/1pi7S/kuw7VNkaXAQbsf60ENchWxfh1/8Rgp1M3yAUNG6tKgJwpctKsC+EwJWzl8ieHbH37CUUmaJAfL2iguYiE3aTAoQU9PZ17gyCXhtjZ1K038OcsQ2W5WCiqlogIekhhFxFyu64LjczFiZr8vAke9YEjNQgMyEINa6FpUKoBhmIHheDpv24jf/tzkn29aAPAHRow+JiWKB/KeZ8YDgUtDoqBiaH44khZ/UqnQXNE9oDykHYGNoOYBDoAkiL8Z+I0R6MZPfh3/uWxqoIIHdEDs7IAG28+bOxcIR7diaHgIvDSaiw0lXd6MxuD677enhKizPU0HADOMftrFdEa3IICR/kcp4kyAGwbfHAXNWmmqlsVHQ+AyOPi8+c2rv7i4GICfLNsGbJBpMRgECbrneR445M1C0sSWFbV15KgR52JqZQFUV1MtyAj/i4a+9dAF9IsDFXMRK8QQTwrACb55hDpCnOagZCHO9Hdvf0wKhUOZJpHXiQY2nICBgrK24sKzLe3t+rea/POtN2YMWYNUNzuXuytIUm+Bbj7AEQTvR+ZR6AgGr4h9URd/mhcCh4n71Qf/+DeDiUBqEwrJoDgIDEoRDKmVNknYimuvgIULUQsAu6weE+dpJjb4fRYaQ04SpaKRWOtgA9vZn7+kzjY+Of/j7GGW1WnXRkE2DGjkMxFZhhcFfvSfp0byywqqrlaQ799wTEAb5p9ffd8NjkBBIsnhv9d1HXQVCQrXA5ET9VGNI9cRqncikgQvkHL2kyaBHOqX21q6Y9EizfSoS0uK+bHtYp6m2wAkhTgR0DgQ7yGp5Dk2eJ4DLo6Bg1zJuuNpa9u7FrHV1Wcft2pVemvtojxsBMecTivymQmer+UJImCrakQuFpB94wKBmvaB8acrekAVHAy1j+aFbpFExPzLnxOO7jAP/UGSxUUCSzVNjQhI67ZICNEwanDbCUmCiNzpGlC4BVGJMec3N/Oo1nZ1+rTYJieE1g/zf6/JX5Q/TJo0/IWJE0+bRRH3iIb8fohlhrIOBgLOoLnhHAfkRLS4g3PtTutLi5bTS7C+y5ZCzIhaQqW+ffo7uG93+DYHhmGAmH9QevggIQjCV3cGk6fbYm5T34Fe0Tw8IQRnjx81YvTohqofzR9dc8dNzUOD325zy/05q5d97WL2D1Ef91V0NaPiNljItYuZOjCuDQJLDtpHjmyAJxsZ18DupcTo3B+uWrV2SxvfvT40pWk6PtB7aQjzRuCWBjxNonk5qJg7eMUJGAQJbrtAIqPDlxIuGgAgVY5CAUnHMAfnSNIUoNeDwT3/nS9qPN0BFM8wFDAWowYHzyBGTuMxiqdQG6zrQZggJTKXeXMkZj/16ozJ5zwxdcLIR+c0IO0WsMEK2/CfQabZ1sbfMqkh9MaUKfunHOvmpv7e9+O57MJoMX9HzDRPjND4MBoZtYZlQ1FWAEeqUDFfGBlpakJbNcCl6RVKhaGWWICmPmicAtq9UUJL6atUaM0HyYFhGGDYn9JgBvqzBTAeyvdB4ydNtnAao4G0PaTOWWx286YfSbpyUqPu/OaRyU3xOyZNCvmS7bm5c/1NHHvUV8EkSaUk8tbUkKoPVV23MLSTYygi7Sc/gKkg+ygRjUF1vGpliJPmA0mW7m5qYtBmQPltoSTePHu2dPPIkdKTE5pq6XT+lw1SoLEuFAQJAb9YLkAsEQUVOQLQPgG+zMAwbNBjhqMrjiQDhhKgCVsoniTwHNAoKKpbOujIjW2gMjZKFMVAWAxDgA9uNEWhAOh4DlAzRmUOj8bsagYMfmbNNIA3jLqwoRweHcjcFupofye6WX7r3amjf/36ntMPu/fAWUNQ1W3yRFyybY0bMQc9ZAC7l3VKz5lu4cJQnJ4uBYlqkYEA5aqcZ6tgIdXJ5lkgY1HQULwDGbojUJQ4DN8cdDL8x3ShLCOeBg8nwMPA5xX4tizBAQMM+1P6phrajb0/5znI2HWRNAGkozNI1aAxCiq9A5CiWGKX+oZIUJHnjhOCH0yJBh6fJLB/8DasW/DH6dOfaYoEXwwZ5Zd4iXrWAG3/xqoaqjZVDXxtCtj6KqgfMQyqaurAQaMxDGNXgSDeqwdsSZVjfREz5A/HOfqnk3B98ZDMpsVD3fKSkKx8PqWqfg7IMvR1dwGQ2KAU2NzfA1w4DBaBg4HBYB7gGOAuDhhCDYGufkKhfPDtHscywUZub1xA/gzkZdMBwEIEUvIKcAT/XlGTfZzBwKiaEO05EwgEJJ6kgEJtiiyDrh44qgIUZgu1iXBdVZjfgzLVi5zMwDPupr6Xb91vPwE1uc2d+LY24pY1a6wwy3RRniOFgiyKJchAoOiBQGPAUBjQiCEwDy0u2iFV0wYcAcA1rapkWPrzf3XcrxqflU1zgGQEpOsTfwUOnya+tPAZx79HyBgEhocYzecS/+ohxmDQbk1zLFQQY+CIWRrqG8FWTbAqOtSG4wSjm2PZcuWQRlE4pJomj2Dk4tEpnvtBXSKyb9vm1hk2eJKMXMY9mTz0o+u6dD+s7+2FEpJ+su2AjfsbNDYkxPMjGoORCcPEwMx6jp2axLExk+tqR4+IRYZXSRKyB2zClziRWBwoNKZIMgWpmnooKyqyY0ikMrmIQi5qDwcHMGQU76/jAAAQAElEQVRzeEB6BJDonmYo0JHkMJCKh5M4AE2DhSZtICKaBA6ybvfJhvUal0a7DsoXWXIGAU4NQWCongkGGqeMbCcXw4EV/uS8cJFEIZB9FSRoSLBBbkzd0HJC8JGHGtjGTkSRbWvEGADyYQaXKKYJlA0gYjRQSHG2DBs0pFKB5QCNUSASHFAWAbQDUCMIEp/L/dC3WQAd9oYNfUIs+V5B0W1/YQHDBkGCNA709n9OHyQecsP6ORiGIZx44KEB+OV8gAgiB0Oq4hANSsBHkFeM4yGUqAVejAHFBYFDAOQRfFnHA0lkIZaKgqmpYGsWjB0zEUhOAkcQgEmlQEhWgZSqBTZeBUQoDFQwArgoAR2WAOMpCKD6ArItEFggEY4iJh8cFWqzChyKRHVC4PECYJwANtoUAKegoaEJGJYHjyDBRgzsIKa2wQMXVcXRfNAFvcMRIGwgaQppciTICOwyUrs8igWHYaBoO19kTbP1AhR7apkDJGV7J1YnopKHueg9BW5QBJkkII+cF6rlAebPmQ4CbSKgFSwwZAeESPL1HEmqfn/bWsK3tQH7402T5GcmQRUVZMjayKGPAQWUIADOi4hBeLRbAtKlMTCRigBIFaKR6iB53j6GUa7367cAuOmy8ly6og6YmAf+J1n9fD/5zO9fMWR8AlLP0OtBZsQwDD16gwlwdI8SzTHQumktlNQitGZ6vdXZAb0dMdeqbB7SCBgdqgEGRUNHLgO9ShEG9AqUkYdqUzqN8sru2t6M12Po9pq+Lnf52vUwUFZgwHLc9bm81VGpWG35rNGaTZurO9qtgUoR+rJZkNEIussVd1VXHxQwwvq6vcMpYZ65vq8XMroGfYUyaIYLumxDf88A8KwIOIkYmSDARWN20Yp7BEK5Px80UQMscAgPCJoADEP5iAAUsj1ckoS8Zhh0dfxFV/9TgJBvb4jxDszAkRzSUT0ZbMibSN5wAeBDcdQ+BRUktXzbB2cotFEIYFlGsVguL754wQINtsEDkWvbG3W2UMjyyeouKhgFoEUwPArKaJfOIC2gW1e1dqXUXvC8j3BByKFVBwqpXzRPVFMkftCW2XpAfunx/GcWkhCD9gR44EsHDENMggph2P9cfUmCshBrojKIyfw2HVQPkA6GUQ4CgQF9nvZemoWrllRKV3QGgxd9rijXrSfx674o5a7OBdgr+nDsqj7XubEXvGv1UOTybpz9hRKOXJHF7WshIFwdTiavKmjGL/os+9ocz1y32VKvrvDs9RWWbCFjoV9UwPtpxvWuWp3LX73ZI37Wz0d+tlq2rixKwpUby8WrNJG/uBf1SXDCXd096a5yvgIczgFLMIChoKSFNgobx8FG4HDQ1Fx0tcAdVL88pFrZ6L3vdBBoFjjk2HDQ/HUS788DvHlq+59iL1WBwMFBIOtpzwMFAQSTBCA5aXmpZHTmckUTR5JLQPaLiVkw4JZBpnWwcb0vV8gs9em3LaZtEiDXrlljdnv4wi6XMrMe4faaVqEPI5YXxcj9xWTNGZlg6ICS5x0re9gzaC3BQGqDwNG0SMGJ99fXh/2FOrutrWSJwScVHC/7H4g3EEMMMtCgKkKA5TOTf49TYKOAo//Oz8NwEhyUb4IHGuYOJoMiikUXfnzqkg23X7ah7aZzFy2687Kvv77mx18uuebc1et/edyir286/fM1N5ywaM2VP1y65trDlq685YTPv/rViZ8sufnYz1f/8vBPl9/4xcdf3XTcsrW/PGnx19ed8tnXvzxnZdvNx3yx6lerv1xz81Io3l0Zse6uH65rvfGk9Zt/deryVbee+/XKm89bsea2k75afUvnuo7bD/9q5R0r1rVei9Sha6O1NTdRDK0bhoFAjSHj2wPdA1slMNCQOqQiVQ0F9tA9ekaSw6IpMF0YlLgWIlgF1TPB9ULVqeeyglDx6fX4hAmCl82eFqBJzESSCkMSgo7HP89RxOFlPjZHCSeOzgvS7wqCuLkcCJRyLGt32LZi8uI7dH294rexLaZtEiA+odd73AsrPOrOTpo8Oy3Qszq40B7O0DEXzPt0+dOnrmxfd9j69b05xXqsUpQHWAcDAe38Qc8bFQdzH7++n8yo+keV4ZabDIsYHUM6vwgVJInKlov0eXSP9t6KB+Ag20JB4sVFenleUUtFw1AKjgNeJIx2SRpKGK4ZHP19QTz49oE2b9Tit3MG770WABcD8AafvvXHz29Z0qvOW4BwCQiV33q35dYv49/714NWrizmTW0zHmAJFbPQDg56vL7uj3QsdkufYazqcW19syanu+RKa2e5vLZNLq7emM/1FBU75+AMmBwNBksg1UlZm84N3HfxokWa79qNABzVGBKmW2oZKJ4Fy3XUTYX8rV8Ujb55K77YfMTyJS/t9/niU5FhN6pdqmpOS3VnZbnUb9Nc4sV5CxY4/vi2xbTNAuSmhe8ubFm+9PLTlq94+NSVG9ZfsHhx+bsLUXFjq0hB+sBFO77/qVwSPCHGsmdukSId0GBrOP2rnOX2WmLIWZfJlXscr8uOJd9enSs8Z0Wij0M0/JzJ8yvIcNBTMejDJPGMaFXNE+FkyuvuHkAqRgiKsu2ZGvNfwQQ+AHOeZRdMlSA4BvrKWVMB9yvZsn9DCcHbbZJ5DQtKB6s8NV3hIjPKbHKmGo7s4UVrTtSl+JNpD+vdIJdyWE3t3SuXrUV+Y0Cu3VEh1rJ+HCBonGY5KCo6aK63WCOxD3xp/m3G95/Pfv/9Ted+8smj5y1e/JMzPl/44bffb2v32yxAvkPov9p5/fcVstsr0M5DWdccCFfXgK862Di2ayoeONF/37JwoS3nSh8NyO7jqwYKj6RpYe/NhDj2K2AOx6bvfty7XPjMNow7JUdhB/QVCy86DPzMpOx3c4a6ppyR3WHJYeBpGPBMiMAZBikpfqv/+WTFop7qGxQUBlwsQMi24egGns/3F1/NdGfTrsGuKLDdlRNaW8unr19fOWVV16a9l618c/bir05Ku/RYs77xyteK5iO+REKExcaIzGG4ZU0syjoALiAHCKl6TOiO4z9ZWfjfZovB1qXe/1bvv+X99gKQrdJTsm3MdewSw3OV3r4+EJGXSxIEzi4pp9wxenSVX+lUZICuYOmWCzq6zzp/fdtXlyOG8dUKXxr5AJqHVAyKCg7orlNQDWf9nsvbi+VSuUAgLUwtI3UDI8AxTFehKMRLfov/+ZQrKSAIEuZLTVmuIKsDBBovUwGPiocpEeyiHRghTRJ8u+LROQ2s/z/T+qP2mfnU5cuL536w6MEHlyxB7imAhyfU1OS7N10W4VkqhQKvluVBOJhQGFJI+3X9ettz2m4B8tuRI6V6KXyJYDuvUK49LMgJIBAkUJoBUcsbV6+b595eOxap1gD3tP7Pr41sWWzE7dityaTwxJAhVZnudWHHwUM0zVW90dTEhBiBdVxNczAddK0IIkdZbKFAbamLrhhKf9fp97OloP9xlLlz5xJbntF1sJ1v8jC0o397vbCWOXNIP6/lOx8STFEBQ69odiwQgtpQjIiTNC+ZfCBB88fW88F5E1Ph5XR/5ctYsWdVssNcP7Jr8xcvT5z4zO+nzj7AHwPqd/C8Y86kUFQUr4lVR0ZaRgnUfAY45LAo9WXiRr7/uVq36vqHpk+v/fYcBituR3++TfDtYlp3Nx3APDh+/AEJx3uLKGV+FqWwKokggEOraKA4g6vrEJV4Sh/oP4BkjfC3J+0z3MVDh154TVXi6bsTwRUhS16KlwYWBjF6USQg7aer2gUCRdWzBEGJEkuAp4PEUYDbuhenKNdv64oxE66898AD62+YPuvBR+ceNv6KaRMef/CkI0bcd+whv/z14Yeccv3++zz9qwP2e+aB0447/tdHH/rrx0477p5HTzjy4RfOO+2RAUe5fndSP8T/WMatB+x15vV7zXj68l0n/7pZy8y8bvepL9O7Nj9x636z9rp1r2lH/HLauIeYSvrhIXvMauYNbf7PRo+/7rJxU/e9ZswYuqKpuCwrmG27YOkamUv3z2Ud93HCMS4Mc1TcLhdqGFtvaoyGGupDbL2EGxMY0PexHXXvuQsWDM7Dn0upMmBqFXV3EsVFCNIDEnOB0E0EughECWoInc9dUq+Zb7yyx17n3DdnjujX2d7SdgMQf+d7YNjY2TV452PxfPqpmgDMComuEKQ9MHIDQCFgBBgGGdUU6LgJfEpaY+t675YFnQtzCV+lGs4FpYmh2OFjIsFxM0fUjxhRHRxRI1HDQCtLAZbZk2XwPxIk9nNVLvICS4KNTGDM1VnFyWD+bl7NUyOZYumZAyZO/HRyNNE0MRyaOUoQ75rdMOzQYRJ/xcRE1VVTGutfGV9fd/TIqqrTa8Phk8Y2DD+Kc/CDJo0ck4gxgXiklsUbq6tHD0lU1VYFwnxckKS6UHTTlGEjbhgSSlxFGs5PJ4wcfd2Yxsb10WqBl4L4pIRIYiHcK/tGct5VtFBVwrVQlNNEdgjwRMzFzT0YDqSiimjBe0ATFqhaCRTChgHQYLOZ+9Tg1Wsx+JbNII0wGxtGvqFrDhA0A5ZjAYfc4URFhjjyuQVUHQJKaTw/0HdblVx+6qndd9/dXwfYjo7tAiDnI7Unt3TNlQ0ePDuEdI4eItFhTC8CgxbfkItQm0gCOC5KACa6DqhyWePoJy7u7tb8tTyloYFdAH9yReIW/kBEkN5MhCJQQSoFwgCKoxSAAwMEHLlNtVIj2EZ1iOHB1SzgaAZsy7Yi0Qi0ALhA4Hpj07D7165fe7Kh6KWqZPVH5YJcp6qaUy7LOURwVqloY0t5uRMHKktQ/OpcqbLe8YheWdM36OClOFzgMZw2OUF8NVUbv03WjZLPoKoDdbKq9UcisY5KuTyipKrDHALfm+CJvqQUfrgqIn0N6GA4nnd00wPLAdLDIF/IAgYmYJ4J4QAHpi4DIEZ3SQpyhuOagvQeJGMXnv7p+gqgw5ekt48fv8cYw6AqpfKrNmBm2TQB50iwHQVEDgejUoYw2nBCyBhLEB4fNYxDoaPnKWXZhlvunL43IjhqaDs40Xpt+7MgdR3HLXnPVJyrARTjBUcGFPpCqo8FvO+WLFeAYiQwXBxckgWDpAfadXO5P/Pba2u5ka5x0vxv/u+LszcsyXbI3llli3ha9xjdD6wptgIRxBSUWgDG1YADHCiLBMYRwDMIAJwr5nMweORx9oVl/f0vFoKBe5cUi87airpgs6Ic9UXnwGVlgjl2WTp38Nr+Ql+3bl20oWvgvDXdXT9d3dl9apcsX70u3fdWP9qVV/fmLtxULCzcmCtIyzv75+kYbXeVK9bmfHZYv2Zf0K0WL+4YKE7KWu7a1oHCo3nNeV0uFY7VcsUf+INwkYuX8zCC0R1gEU4EF4B0bUCSDoGcAM/ywMJYMIigWZCJd3Iqf/KPFq5r9+vePHukFOvrvJfP50/hOjqwUjbbqphyh4tUSRlDG4RggkGrYNMuCi5aaBNC10oGaDChy9TaTQAAEABJREFULh6s5XB8X9tGQSK/se0g4dvBHOCO7m49Fg8/nMsPaI5rgBSS0LQwcD0cDAslj4GsjUPWIwu6GH6viNNPNk32P0UBUJPi9wwZlQuJ4sBP7hszZlCPPnndF7mNJfdClQvPL5pUmeGjIMsqUCQOlIcgmM8DhdEADgE4xoFpeYKt6xag45pFH//x0rffVs575ZUXzn311Q/PefGVt85/9e11F7744js/fuGFjqvffuPWq995476zH3zQuvD55/543pO//+ySl19e86OnnnrtwmeeX3HFcy9c/6s33r7isgUvvnXlS69dfdNbH954+UuvfXHV2x9ctj6df/DK997LXfXe4vSVixbfdvE7H/360re/2PyzT1bddfaSZTf9aOXyl9EQgCJwW+BZl8YARJIEFgjgkaTjWQHy+SKIgSgUDMzoqujvuZH4qT/6+useQMfdBzQxVTZxTZL2jiA1eaRN07Rp4sVO2343jWG/K5DYwIClQlovARkKgE1iIBsKpKpiYGgVKMklqB5Scz9OGwiSqMHt4MS3gzn4U/D6NfMVzfLewUgeCmUDdAQKDRegaNGg0KFSu4k9nxejp26wzEN7ErW/8iPTiNcxKRyaPWxo9agw7bSMrZIu/S3yfvkNnta6LPOF7V6WrXBXtG1WNjpMBDxWAo5mQWL5wW8YejgFimGBjTE41NX51f5P04PfuF6/rxOEBzQl9JZy3e6BXtsiMFBVFWiChnRvFt07wIVSsCldySqE+IgeCB134pIlfagGzEcStHq9eyXRnz4vFQslyBAj9PK87cdKPpucO3+N4PyoC8fnFWn6bZ3h5X60YagECSZDQTcSn1w4CkwguKbHKL+O3OR5v83tIW0vAIHz1qxRNFa4Tqf5CibEwGVCIBMCpEl21WacuLqf5n80d/lnL5+9ZInaggKE/uK1jBlDhaVowKqoWFUoIBT7ui7lefeyLZLEN3iP7Vj7AFHVdNr6nL68u2yDjKSGxzAggw0OS4AYCQIj8lgpk6H8Nv8rkk0CLwguTpNAh8KgAgbhunookzSsK5c6oa7mAcqru+hUFPPwxzsfgWNoRft1wnR/PL6qji30DYBH0f0ZVbX99wsWgNOysF0/d1n3hxWs6odmou6yIrAbFYcCixSAiiRgfS5fzNH0eZ/19g74dbaXtN0ABC2It5RS2/oc6vGcTVqbeiu9Pap7/WoXP2jDuq/vuwBJBFTmL04EAKs0UDJDZMBRkGcmJLBcHHcvqeW8W+/+5v+ywAC8eRuWfOLG6g+pUNH7NlfsbJdhghcVIOcWIa8WoKIUAQsGB5npLzr4Dz1wNkbRGMlaSJ4MmDr0eQ702G6xw3XeLwxJnvq5wFx3YOubhj+8R5qa4sPAeJh2ldPDQT5iDiiQoOOuh3HtLe3tg2X8clvSSStWKOuZ2CMWVTdFw6Xre/NGpoQJWlEMvtIO5Nf3bCWmtKXutnjdngACN63sLHaZ5q2r+/Lzy6HI3us3rW/5WduazkHv0tZXx0O2a6trgSvQIriKCVGcZkOafk7K0n97b2PjEFR3kEYnrFjcnebJi6iGYWcUSWpDwdI8kqWAl1jwXBMEy0JYgr86Lp292+0PHDnvtF/ud8CTP5o29YFvCmAX7D7tqav2233+JbvvctOvj/rB3Ov2mv3U9fvMfuzGQ/ea27LPjOvvOmyfq26YM/2Omw+e03LroXvfcuPes1775ZyZt95x8N4zfzJpxKstc2beed7UKed9095fXDyCdgzH9SzHA9PFlLxmbMgy9B0VTpx70kdfvL9Fgv5uXNOwhGc/QQzkj41yNG8aFWRboR3Bdg3HsVajRj2U/uq84M03jXlrFsodtH29WV+3/5f50tO5SPCqKz75pPBXhbfxjMHF38bn8O3he/LatV2fZ7ovPHvDyvWIud1vv9zafd6QN6iebbomAQEiAEpfEQKuB+OrI0fV4fo7Y6ZOOPib38QFpJ5ZS2ni9RwrzXFx4m5b1zaaigYCjVy+hrFVWsZdKjk5XE1ODCYnTU8OkX0XKhqHF1O16j3qh+nTUrXjuIJ8+vQhdT+bWlXz7IRg/OAZNUMOHs0Hj9x92Ig9JsdSP9ijYVilkRGHTUnWNjYGQoGx0aq6yak6qVaSAqitvzp1kuQchsIpQQQkIZ8IhJPzKlLlljNWrx60DZB0ZD7cfcq8cD7zWoIi9k+EA5SHpCKOQiBkkISsldMs217oN3wWUr/869bS2cgmOnbRomU/W7/hjGsXLu7eWpltPW+ri7otT8oHxQIAB81hq7sfyofzUdzksm+McRSqWFPSlAIJOPAYCUEeOXFtB4xSFmqDzPBAKfdwtZxtuXu33eJ+XX/3RYzRR7v8NTxF/Y6iKD/7e+loahaGNJx4JBD4pVKq1IFt16MKGEky/ZlC/g1Hd87CPay3UtbGKLoxgeOYtGO5BXCxEg54Rylf0m3Lseuqat8IiYFfER5ejkaireViUSdpahNq669OB8NKlod7haKsKbr1iyXLVq88FdkQfsH5zaOr6jj7JnVj671NofAojkBSRpWBRvYJRdGQV8rAcvR6UbIG2x5X6tvzjkmTQn7d/0T6T/f5vQv7nx7Y/1X/dzQ3V43A8dtGMuR+zwEQHKWXeU74zHF1cB0VJRMwHOGLIsA2DQgyXryeJy+JFPvee27KtCOeq63l/HpVmqbpplYyEfdr4DDfN948jb/4WWfHgs83bhyWxew/tnzySRsq6xVY8akNOP3BMa+80pfHjEtXZ7Nj1uVz+VVdmV9uVEpXrDXKl6zKZa4dAPfarwd63/qypz2zJN29b2slD92O+VSrFLwobf3JtYza+4uTsAia8hjCszGdo2nN3zR8Q/zp8dWHJ4v9Hw/B3AuHRZNxR9GBJTGEWRNwjAZZccBymDLHik+Hs4Q3vxkowVavibLGEz7d/qKTHeRhhwLIr0aPrhrBsA/V4fhpeDp9AIyJc20r0ppO42/YpOdong18MAg4Ixgl2ZGB4AHt5IDrOh5z7PFspufhWkJ4uKqmcRwZZmICx5MERgDDcCbEYKvH7V98uOCn7724Yb0ycMs1H77/6JZCty5c+Nq1CxaYGIB35Xtf5K758NM7fv7eJw8i/b584ctvL/7JS28vOeulN5af98ofP/jR828uu/Ct92/KTZ1520WvvbfoJy+89qJf97b3P3lxS3vfvupawaRJzCApnLAcJ/Dq0NrhWNvSP0iGPr8xHBqGmw44Hg6YGIFuXdN1MZCvoFhJoKoOspq1uTefeVbr7TUSGX5CYzg4MSCrB9cC9sC90/aOwg524DvKfG8Zs0tqclXt3ZSiHRSkKF4KMnu7OJtsAXB7GfvFXkvrLhIYrOjoXd2aVvYyXP7Izj7lfQN4BydoiNMMDIlKkXCEP05zlE9Ijn8sEqk+wjMQBRXHUdMO4nV0/z3ng0hf/55Xf3d2S0uL+/cU5gXcNYwcwdJGoCYmPYNb6gdTho84NBWMJcqqBQaK52ws68rXsvH5eoI9eCPO74vC5as35oplI8A/A3SkhPRJjPOoM5iyJtQRDCRM47C4mvn93ZP/pGr+PePYHsrsEAC5ZMIEAbO1q7X+zFGM5aBouA0SQw2hOPaUljlAXrC4tSyT1Itrs4UlfWLgpOUDvV/st7n17b6AeIzDibfmc+WMK8uA6ypoehkCYUls7+jaJ5ct7s6QDIg8h4mVCtLL/jtYQiIdHrcUIkhhEOXI3Rti0RqjUAQCebVIgoOsYqsQiT+iMKFDzlnT9t5pK1YszXPsEe2K8kHJwx6et2aNmWmMDQPd3j/KicDoFojI3ZekqL3wYvrWFoAdgm/81dwhJipGIobAMTrPMp7IMsBiGNCuh3ZI78RQtnFQbTA94nYtUXPujzs6liIGsH3iXNDamkmT9J2paPRsz7V1AkcbOBIZLE1COBgCQ9cx1VChrBZxPhrF/Dr/DYmRNVO0LJnUFMDlMlCGDkGCAq1QAYpkYciwpks9nbnK/9zZlvGes3b5RjcZPOXH69bl5jdX8yEmdHlj7bBG3MYB8wB5PVywkIXiYK6C6INyttTcZq9/18Dxv6vUNl7I9zzZuHsTIfCPq7aJNkYLGIYBsGEI7+IH+NM7b9Wmrm7FGPw0rP+8JWVzuaKuG/vTJM6SyA3KIk1KzReAwnCgcQwEFE0XSIxhWCyFGOc/Ts/n5s4lqgVxiEQyHItUQ5ZlAfkTwEHSIxmLQ7lchuxAdv9+UXe2zHHL9aJvIuvlLJVUTecHJU2Hso6CojRqA8Psfl17zUnGL0HldwIEEWG7OvPBINo/7SvwSOQ1nWJAw0nAGBYczT6+ZcSIQRN7a1FgUfSaO9NdBzAch8paEAYWhgRjUB5IA4MkCmcZkCCw2JRU/KcT95i6/+9n7bLLI7vsMuuhKVOaH546a9ydU6ZMuG+XXXa5c9KkXeY3zxx/y/Dhk+6dOHHsb6ftOvHBSbvscv/48c3zx48af8836f7po2c8MHXstPunjJzwm2ljJ85vHj/+7jFDJj85e8qMZ2ZPm/rwhAnjHmmeMOV3qI2nZs2a9ChKj8+ZM/Xpvfee8PLeu02I92yeG8WZcwGnmAoyxG2WBxUngBRFyJcrIAg8FIvZaQnM3eP7FjgcjAs2zRU0JG2waBzyOAUKKz5fCEROuXjRIu376m2P+f/xHe/fRVRfivSIYr7HsU6zotFnChgBWcPrpuPJK2SW3eqi+7YL69iX1NVW1Zu6DjTJgGVZUCmWIBINoV3ZAtexwTE06OtoO41R1EfJ/oG34oXS6w0mvBfOZj+pqWgLk+Xy2zWK+nZMzr1fZ1uvR+XyB6FC5n30/HaNLr9TpcsfVqmlD2v08ofVFeW1hFJ6I1opfRDJ596NlTLvN2HYO1I6/aqY7n0jVsm8Fy8VXw8UB96neja/wad7/+i2tb6Od2x+w9jU8Uc3V7pflbXZgKNd38UgV5YhEIyAXlGBRsSmHAeiIpsqZ3suQa7fIMr67omdseKrVYWgdGwXia9pNfVyJRr9KIMHz7tg8eLydwtv7887DED8hUQuVGMNQRQ2W855aYK5tiCEjuvi+eW3rVih+O+/m8bgxj6Cae2JmyYICBwmAodBe+CFOKR6qIDU84rDkKCTACRH0QTmJgMMFamLhEJB3AsmBSaYEJlwhKNCYRYLBRgvFg0x1dEwG5eCWCQQZEIBiQ1LkhQOh0LhYDAU5nkhKopSNBQIRdBzLByOxnCCRHmBGC9K8WA4kmBYPpVMVSeCYqAqERQSNREpIbF4TSIeSWEsHQaGAx3Hkd1AAUsLYBQVCCNpwBg2BAEDwbNApLxZdSn6VAQSHv7y8PzHMxcvXtEVEw9ZxxB3tHPc0Sd/8V7Oz9/REr6jTdiXJOd+8kkh8/lX113w6acf+8/fpUELAP7AhAkJXK78LBWMhFzThVKpAnxQgpKpgIbb0F3IdHk8/2M6Efs0MbRpXTSRWBKORz8Ox8OfOrj9JQEbIIIAABAASURBVCfQK5KJ8OJwWFwbjkht4USkLxqPFBLJsJpMRexkdQQStTFIVqcglUpBMpmARDIOcZSS6D6VSkJVVQpJqrBTU1NtRBNRRQpJJV4UB6LxaJcYFNc3jWxaNbShsXV4Y0P75HFjN9XV1XRUDalr56ORTYGq5Ioh48Y8pLiWZ2A2uMjSZpE9ks1mgcQJiIYktm9T63FGqeR8d/5bnq9495O2a75a0XLeG2/0b8nb0a7/HEC2AyohECCX1NYn4r9zeXdPnGWHaYYLDBcAMYLUFNsCCkkMA1xbGtrw7Dq98lKfax3UaeSn9qXN3ftK2YM2W+S+ZTa/e7tpz1y2sW3PjlLb1O5SbnpHvv+AjnzmzM50//VdfT0PdfT1vNDR1/1ea2fbV60drSs2tm9as651/brW1g0rN7Su/7J104YPN7Vt+GNXb/ezPf09D/X29V6fLxVOLxqlA7Ny/+wuNT9zRdvq3draunfpzMrTejd2N/eli+P7y/r4fiAmZs307E1y77VZV7vZCbFaDjTIgQnhhjooGjpYpj0wtL7hLiYY/F46bJ06O1buDguQv7XMLUiCAMt9iHP8YtVBzi7kDcpVFDA8D4BhoC+X7ZBx7/augVy8t6yQ2YwVK1hyMpM3I5lSX3DVJjmCvF+JkmkGerNmsL8/y2ZKxUJ/Ib8kny0sKKTzt6cHcj/PZosXVRTlHFnTTpeVyomyUTk2r1SOL6ryqeWyfE65VLmgL5e7Nlcq311QKi/IuraiL5cvDgyU7Fw2j2sqTeYNg+vP550BMGIlsyBopRJnlgaqLVeqQnGapCuRtw9opVW2xINCeNCnKCC7YCZS9Q/JpvtHnw4tc+aw/nVn+msK7ATId2jS0tzMCxMmcJmFXw6UwD0TRQ4+8ZAEIYUAlHQLJVNJ1Q65h+uz8jwE1ZO/WJfbuGxtF7tifWf32s1dA9Cez3Vl+zva2zvdgYF8X0c24/bk0wZeSLMQ6veIcI9NlrtdK9Bh6tymHJZdtb4tu5zpKH0ttCsrw93Kmt5OeW1Hb2UD11PZ1NtTaaPaMoPJXdvd1t46sPnEjmzfyet6csdt2JA9cu3avnmrV+cPXLJq05dfrhmQDaO0ZPHyTZ99tHiTyGIbHM2oiaeSD8iu7eg0Mtwp2hw6ftJzliDcx5JgRcPhvQhZux92HlulwE6AfIcsuVLJWblx84+96U3ieV+u6e+1jRM3K5VlvaoOeCAEBsV+Djj+RI7x6k5csqTv0V3Gnyk11L7QV1P1ZdWwIR8mzSFv8rXRt8Wa6Lt6bfydRE3yXahKvkNpyT/qlvaWZchvGmbkdXDVVzxPfcktSc8Hk4GXehOBV3tTgdf7U8HXo6nga4nq8MuZVPjFaER6eSAefKU3Fnw1W5t6PVKdeuPWmvjrdw0f8vqv6qreuKo++fr1oxv+eHNT1dvx0XULK2C9EK+tXljX2Pih5Qb2okguzwmJVwPxqi8zmqYkh4/8vY4zPyNcTjPwQBOSbHdVdG3y6bNmDfkOKXY+IgrsBAgiwrfPe1pbjce1ys1tujvBz79o3bqOdsc+3EtVvbQhV+rRCerG7pIniyznPdE8ukorli8bPqT+sOpEfHI0IO1aFQrsNSSR3Lu+rmb3VCoxvTaZmlGTSE6vi6amV0XjMyJVVbP9FE2lZkUTydmJVGqvZCK5B7rumkpWTU+h8lVV1XukktX71lbXHDR06NADGhsbDxjaOPSAeDy2f7K2av+mpqYfsBz3g8aGhv2bR407MEpy+1VHY/tKHL9bKBQ5qHrI0N2EUGRXzYIWBY/mKrragFHcL5rGTbysr6KdtQGgP8/gQ1uzfbcTIvdGdGjD7r/97LMOf747019SAP/Lx//803/LCJ74uu2Tb8bi/WzNms4uWT5fSlb9wsb5JRRLjMfZ4ECIkxK7z97t+UkTxj6+1957vrDfvnu/NXP69Kd2nTHjocnjxz01dZddfjdx8sTHJ0yZ8NikKZN+N2Vq86NTpjX/rnnG9GdmzJjx7LQZ05+aPWvWYzNmzXp61vRZz82cNuOVGdNmvTxj+sznZ8ye+cK02TP/sMvsGS9NmzXztT323v2tffbb74P99t3ng1mzZ713yCGH/nG33Xd7Y9rkye8euv/+Lxx64IGfHX300V8deOAB6cMPOzR98MEHvT5xSvN6ZFxEeFHaDAybB8Z98sA3/a/aloObMv3zGidPutAbPvryy195pfLNXHdevkOBnQD5DkG+7/GCFSu6CdF+AY8yu/CJ0NXxWPjG+trGywKiuCvPi1NxEh/vgjeEF4VpgiA0S6I0jGPZJjrIT6TC4mgIUhPJCD+WD4gjRI6ZTHNcimbZWorh61iWGyUKwUaO5esiwVA9QRA8w/O1VFBI4iLN02GhyqPJ4UADoDCGyLNcgiIoFhw3yHAkS4uEoNoqRpBOhCZdxbEUhWOoapHjwlVNjdeFaoa2iNHY5R4WaHrrhz+sIm0+eeb7n11x2G9/v+zsBx+0YOfxvRTYCZDvJc3/vLh8n+Yg8vSQxaLS0N7b8+usWqnpTPfturGzc8SXK75mPl68yPrg08+yCxd9rn7y5Zf2J18s5j7+fBHzwWcf1X685EvxncWfBD9atkR47/NPwh8u+rR+6apVofc++bj2w88+r/3wi8VDvly5svrjLxbXfbViRdMbH7zfsHjZ1yPf/eTjqjc/eD/85kcfDl/wysvBdz7+EHv9nXeb/vjhx8nnXns9+MSLL4ReW/hB3bOvvBp//pXXR730xpuJJ//wIv6Hl18Sn/n977nnnv9D+O0PPhj5waef7Llw0WcHffLppxPT6d5f97RvfJ3DvUkL58wh/meGO+++jwI7AfJ9lPlWPvfukspwx7gCRaWfdWj6D7JC7GEGrNnpYmnPnt7Mrr0D5V3lkrZvT06e01UypvbI2ZntCszJ5cxJ/T2lKcW0Pr3fysxQNXp6+4A6sa0zN26d4jav+3LFpD6MmbauJzvFKpbHLc4UmjKaNX6jrM9Y+9mykRk3PyOzOT+OtrjJXXr/uIxenrBOtUZ3DRRGb9asmWlWGt5uE83pvD5KtviJ6bwzIVuyh5UdYoRi2s3ZUmlU2PJGhOnAWCnIzWAY4mqJY4Z0bmq9NcPz4741xZ2330OBnQD5HsJsyb595kwutcfMo/Vi+RwcJ9cxFnt7n5Oji1n7BIfGf6QGg6yOuxOKJHYCxtFHnr1kiVoqw4G4rV9gC3STE6QiXog5I9Nnz/PfsRK+mwLGOaKpzoo0NVFuOXMOK2DHdpBKTZDF6g3GO9p05aNRLMa1VO4AJhU+vUsrD1cHmJjnBedV8uXZLe3tuu9MaFm40L5txQrF5LgxOEkeLIrsxAEAk8LxCWXd2o8Nhyf43+2omJXdOFY8xNQ0rrGh7hkW90LqQP9vH/3BDxq2zHPndesU2JEAsnUK/I3clpYWPBESJkI214KbbrdaUi7JrFmjpujYkZiL3U7g2CWMYVSjuOJVuIffAB788NZRTXNcx74C99xjMdcb7hr21YV88QrMco5saWgIubp7Z4gPnk+4+O6MyB1JYe6FlqH8jHJxtb+v627VUK+mGfqAG8c1zSlk8j9Pd/edFOWDI1PByNW6rP+cZrmx3x0ywzC7OY71oKUbv485Tsww9em8xN1TKRd/P3/o0GC+WNi9XCzc3dvbc79tm/fFg9IbtG1PqOG427fyWazvNr9DP+8EyN9Y/qGffTbEKuQeFVk6EgqFrxawZN+YMXP4AEF9GgmE5qbi8QMSoVB/OBS4LsDzJ0qccFkiEFmZiEbPFyX+PJ7mP4gHw49UxWPH1NfW/BQFGnQSsLNYkvhxTBR/DabySX111TmJeOQkOiSaTUNrL62qip3KEXAVGxOXD22oO3vsiJEtHMO8yxHU/fFg8HhJYp9A0uUv1o2SsKcnThh3f/OECX8MsCzGssRLwxvrH54yccICKRymEtHY46if+bvvOvtN3VQIisBuFGm6J9PWekh1Xfznt8+dy8HOY6sU+AtCb7XEDpr53Ny5oqfJj1d0OVnd1Hi/hXtfMRHvgOSQ0NJEKPLHqmSSpBl2mhjgPouHgr8NShwbkNhdYrHgslg8/FB88OO49H5V8ejz9ank7yIMOyUwtOqAMSOGPZqKR+9keGbmkIYhu3I0+XA8ID2W4JiZtcmqcWFBeC6WiL7cEAo3czg+LhYSbqqLR5bgthWNBKQRAoa94M2ccde3QcLarJzp3jTJUfMz4iH6tCDhyEGOSmG2No9m8d8ILOt5OPZeJpPeVdP1Z7iwNCWcCJ2il8u5wub2s0e6+iFb/hu2HXS5v3faOwGyFdIgcBCl3vb5ulYeIySif2jrzN6lMJpbUeUDS8V8qq+vn8sWspu7+7t2HyhkqoqVfKKilbqKpdwhJbUQryilUDZf3lyplOZmC5lYoZALF5TsV+Vi6fhcLluTy2VCJua0d3R3HqpocjKbzwVsR1+/dt2auZZlRV3HCbe3b96kWMqB6VxmZLaY4wyr0N7b33Wg65hDGNLTcwc0Df4glz/8MtPnVbSytqltY33rpvXHs7yQMA2tc+O6dVIpm9ktHgofrSuVgaVfrwgVSuVhmUz+bFmW24fU194VIKmw3N396wSGDfHb2pn+kgI7AfKX9ID5zc2UVuk5O921aS8HdxdlXOvSMxYtyncsXF6mA9L5faaSynD0kH6qd4OsY2eaJbM2W7JGKLK7uuTKZ/ZWynW9BauxTOU3ZcrO6ZlysSGvKyP6pNqOAlM+MZvvS5aNwtBNTKC912ZOSg9k4hVQRqx7f9XmSmLkMcWBHAJbfhxPRHv6uapjs3Yl3tOTGenF7J6cbh5fVI1xpmpfc8+b//P/KvZWog4mBS9vHD36honTpjzk4riXKebvr6urv7Z5yrQnEOhWIbC1xlPVJ0RTVb8MpxJPZh3LGMiVHnHBXci5bhUvy088feihye+QY4d/3AmQb7GAb5RLUfogrbPjYmTI9nE8d8nP3l1Sunb2pJODu0x+saOv9wHbMSaJjlqn9mOPuLz1+wG3eFVp+fKyTum3ukA/ZjnWjS7kwo7FTgdae8Ty3Pm6qZ8A7e2kW6Gur3jUb4oG/DrS3U2QTvHECo7fr6nUI+FdRs0IpjfHK7Z7p1whHs7Zxcv9oRVl86d4nJvf2S7fHgowQ1jCnqHkeu84f1j1Q3PHjPFDh/DgkiV2RlEaP1+1+oK1bV1Xl1Xtqp4B1Uyns9Gv16y7AAHs4ULWOk01mS83t3fsunz1ysv7e/sWqq5eLRDC6Wq50urI5WlB27jL3yD8fnemP1FgJ0D+RIfBv0M/e3sMDKRvCwEWro9VX9EBUqvPMGqudLytG1NZmphCEm53Ti8fRlDYbPCgOZaoyrHNY2pz+fIepYo6w3GgSnMw1XOxM2wXm2QYTh1JCpuDUe4HmmEfrmnGJMfDtfNbW03d9OZ5GL27YWLVetlrN2zyRArYZoZkZmAelvf6NiVvg243AAAQAElEQVQ00z6yqCqTVcuO46rTjln22XEpeBBW1omxa9bY/sARUKgVNave61XtpXkLCj0lbepApaLlZP0PBdVsVx3HtEx3Mp3LoeAg/oZumR5BUx7GMQf3mgOFSCx+sY3beqWQPjKRCJ/jB0X9dncmgJ0A+YYLHtpv90amIN/lylpiaEPD/Y4lfzHZsjhVcoShtZG5nOVOsMTQVAAuW5OS7hdoZjLyZk2iFbg/wEUqNcnEvoFEaHScjhwBcVIlGfqCcDgwLYgJewZF5W2Gi35YFUPPUmw6zro/bxkzhqI85jBdhYmiAPtqVVUD1ZxwHw3SPpJHjw163DPVYiJT5fHNDEvuUpOInZsPqgTmUaeRrjxh4ojRP5EnTBj0Pi1Ys8b0/w+P9C59h5oWsQvJB6e0tLfrQjC4oWjpExTLmpAhmfPNqInLNvsoQcNIkyemZ2X7TmF5e6VIVT6KVyUfBMfESpvaLp9M47N8aQo7j50A8Xng1v32E+oZ4XdOSdkrGI4/257J34crJIk4+KpxUtV9SSx4Z1AQ6CrPS9bVRe9JhGqejknSNVFJsDkOxg+vCd87csiw+xql2C8ImpaGYqmJI+I1d9WHqu4PRviTKS1J17D0MUOqm+4c01h/V71Ue3h9OMykqmInjR3R2BLkE/c2KKVZbCSCjaiPXzS0sfGBVE2qhZSIiSTH8Q2J2paRTaMemF4z4e5qSapmIBgJMMw1TZHYry7dbd9v/TrJXIRfPKKDkbh9Zi13FlK9qqJRx3RdrJYk41AR+Vi57ESkEM44LiYKdrI0rjFmdpt490DH1Zapv10VDdRghcLvxrzzTi3sPHYC5Pa5M7mYmvm52tM3Q+SlNVmrfCk0jM2oFHaKpqqXKPnMcbm+znmWWeEAN87J9/efWurPHJrr6j+oVKxQPInfVOjvP65rc+sRpXzmAAzPW3Ixe0M+mz6hXMgc42jKbMswcJR3ba6n58RSduAkz9J3BVWV5FLu+kK29zxHV46iSKLBLuf37O/uOq9rU+vccm7gdMZz47GkeLxSyJ+a7+s9spQfOIFhTBA44hRDrVwMhnayaBkpn4/nzp1LjNy49BAMjLdYyl2WTzt/uHno0EBnOp3QLOsd3bEXKba+VMGtelsXdb2sv1WStXcrtvO+GSSPqOFqVYrAz7d0rZ2w9EZCKz/x8P4zI37bO3LCd+TJXzNnjjjUpE6y+zpPK6YH1uuue/Cpy9uL8xYscCyaMLr7+z7o7O74hOaomzCCz+cqectSjY8K6ez7JEbcEKxfla2Uih2lXPoLXSl9SBHeTSxGk1q5UCrm+t+TS9l3XdO4kcaMoGMoX+ezvX5a4Nn6tQ6pj3Ft9VPVKL+vGcXnbbX8nmaUZN0ofKjr+c81rfiMhWU/kEt5vJxLL7ds7QvH1h+NU5FNslzCBgrpD/LZ7ve9fP97/houQGMWifwHHKat5Wk7VykNRGxSG7+hu7sfMPsDXVdzhAtF14U9z16yxCKAesx2oTsrl82Squzy4cKF7rolrZsxwj0rV8nmQmFudh0rPfjw/vvv0CDZYQFyFnLnoq23obix/Zq6UDg0anjTzWIwKD86Zw57634TBF22Hq+qiR2dEpnDLNv6DUARhGj412AbxyS50JHBgvZ7rq2ZoWjvAj4U/IHAcEeDUXlLz5h2KBU7eUgofryAYfOSPN5BGVhOxOD4WDy8lxigz7CMsszj1hdBSTiVcfRjWUU51w2bOckTvpQ4/GiRIg6NusJFrsVQIkk+WTOk/jDP9Q4EhbiyN5eTErhwIxmij0gm+FOGVFfLzyFv1jUo0bRgpmKRHwUC/P7Tx086JBUl1jQ3DxVTfPDqMCvsFoiL+4UC0SefbGoKRKv4J+vCoaOax488JFldff3k2SOFPSZNCjAEs2Li2HHPVQo5otTTeXAjRx86f+7cIOygxw4LkJmSJMCGtgcTTKCqKlpD11SlTmmMxR4eSuO/nUYkbhrXWPXQkGT1vYmGxrua6qruGN3QePeESOLhKSNH3Te0MfVA0y4THquqTz48tnbkQ8MDsQdGVNffMbZm1L3jGuvumxSqvXtkTcPtzcMnPDasbtT80cNrHxo5auQ9I+vr72lM1d/VUFNzx5jG0XePqW64Y9yQMdc1DRtz01Cm7sZkbfxXtanGW4bUDruhoan212PCdbcMqxpyw/BQ6tYJ9U23jhpee1NTY+q6uqaaG6dXN90ypXrEbZMi0j31Ixvv3X10zXUjU003DqsZ2jK6qumqETXV1w5Pjrp1Sqr+6lHDaq8aNWLIz0dX1f98TG31daOHD7t2QrjxxnG1DS3jU4137zZs1H0T6qfcU9vYdPvwprHXJkPJVFUwApRlMpm+zptijjNlB8XHjmuD0IrZEKPZRrAcLZ3JaIsXfTp149pVexQ2tx+a27jppLavV+7TsXrtAZnOzgP629r371q/4YC21av23LBqxZ7rV63af+PqVQdsWr3q4La1a/dvW7/xB51r1u7Xtmrtnj0bNxzSub71yM6NGw7r2Lhhnw1r1hyyft26g1evWv2DdavWHNi1qe3wYn/2iA0rvj6yv33z3IH2jqMHOjqP7evoPLm/a/NJPZs3H93dvnFu9+a2Y3raNx2/ecP64zevX3v05vXrj2zfuP7ojtbWEzvWrzuhfd26ozevXn3MQNum47Ntm07sb9t8Zu/GTSesXbLy4NVLlh3S9vWKef3rNxzev27DyV3rVp+Kxn5s67q1R25Cdds2bjipc2PrMV3rN85d+dUX+yxZ9Mn+K9B4Nqxff9Tijz879osvFu/V3d2pCyILQNhJF/Rbn0M2zo4Iku1Gglwwc/dZyH+PVhSwv2sho4FqXKArwVTqWFbk5jaNaJqXisWOqU4m5zZUpQ4dFk8eXSMFj+QB/yFLEUeJLHmoxIoHCBJ/oBAIHBARhX1DrLivKNAHRiTmoJDIHRRkqYNCEf5wnmcPxznyAJKl92EC3P7xZGT/SDzyg0Q8ekAyGDgggFMHpsKhAxPh0EHRgHhoPBQ4LBUNHpaMhA5NxIKHpuLBQ5Px8CE1qeihQ2urD2+orz6ysa76qMb66qOa6mqOGtpYe1RDXfWRddWJw+KScEiSkw6p4QOH14SjhyVZ8eBkIHREfTQ2b3gyefSIVNURjfHIvOpQaF4iIB4VDgs/lALS4YLAH8Fx1GGRZORQMRH+YTAWPrSmrvqwcZNGHzVkSNXpY6aNm1s7dsi5wyeN6k+konKhLfx38UrLIc38DbN3/6Gvwv5d6/BfXujvmvR/+RwGhxfGcNVY3/P8/VNnj7h7+vTAtz/MN1jgO39UHA/qFElUDPVwj6Z/qCjKCZZl/tCx7WMs1TgTTGeuZ5hHSSx/jIhRxxEGdoxnaMd4qn0sphvHguXNI8E5xlGNYz3bPo6wrVPAdc5mgTiCIuAwhNK5Lu6eTFDU8RVZPh50/Xi9UDkOZP14wvKO5zD2eNL2TsQd9yTcc08iASUMTkbXk3HHO4X03NNIwE+zDfVUWzNOtXT1FFvVTrFN7RTXtE5xDHRv6CfbrnuMZhtHuqZ+FG/axwmuc45kuadgqnGcKWvHAapLGM6phGOcjLvOiTh4J1GUcyJNeCdSOHaiWiwe6snqMZhjHF8u5c92SvJpmGXPUxXlVA/Hz0gX81JvqZjrO6Ta+Q4J/+Lxmrlj6Pn771/VkGHvq6OZsdWHHPI3y/9F5f/ih+0GIJhR2RCLCCWlp+v1XapqfjVm7MzQ36K75nkvuOHwZTgr7KKWzdNKGfkkXbHPdFw4mRKE49P5/Bk4Tf/IMs0fYY53lkQQF0RI+qIQTV0gYPhPSMe+CLPsCwM0/WOOIc/FKewcHPdOBcf6CeY6F1i2fb7h2meZqL5jOedKBHce75LnEx75Y55kz1UGCmfjin2Go1mDyVKtMyzFON0oa6dpJfVUtSifrOTLJ+oV7XitJB+nFivHaWX1eD+ZZfUES9ZPVDT9lAFLOSPvquc4hnUBpdrnBm38VFZ3TwPDOcMxjVNtzzrNce1TSMc7nfLgbM6FsxgHzkRxkDNpxz1LsLGLCNk4TdLhdE62jlbTlWM82Z23efnGH1qyO1ZzyK83FfOLUODQ/T56+pJ7F6Pxh0xu4L1itnd3PML8/m+V/752/hvztwuADEoLSTJDkvBEdSxUp/f1/IhR+195Y+rU2f43ArdG+AvefNM44YMPXijx/C39htOmC4Fsj2GW1hfK6qZS0SBjETBJCkzkF/U8DygMB5qigKApwFgCPAYlGgcHPPA8DEyELBvHQbEscFFZHCeABApsG0AMRaG/rEAZMJBRfgGVVXESNIoFFaeh8jdSCbWyJRU9Avx7/1rGKFBQ0jwMcJIGlmTBtVzAUHnDtEDzHDBwzDM8D0yAwWS5Dqg2eqcbSKDpYBvW4NhJkgJZ0dFccQBehIxmARutUT0+dpshcT/8+euf3oaa+KuzBQB/aMK0xl00+07o7H0o6HqjR40avkYu6QN/VXgbzUAU2UZH/q1ho4Vy/a+f2hS+PMJzmz21QiQi7Gwn2/naLph51x/GTZnwreJ/vsUAvFV02+8rNVVjsrhTnY2FqvojoaEdLDmlyLH7ru7q7gpEk1fTHH+QalpzBoqlPdrz6WmblMLMtKfPLlLurorr7m/i5J4exc1iItEf2oHwMi5V/WoyUnNpTaT2pIiUONYE+li8ofYYo6HuaKOu+mg5FZ/rDm08KiNJR2VDscPzgfBhf0qxw4qR+OHlcOyIQjh2eDEYPwI9H1GOpH4oJ1JHliKpI4vh5JGlcPKoYjRxlBWMHR0LJOfWB6t+Go2k3sNZfiMEg0eVaWr3IkXuXqbwXVUMn6WRzByb42frPDNbE9g5qMxubCy2fyBZdUEJ88qRESPeCo9ouh+rqbmmi6IuzEaj52diyZ9+2N97z4slJvtngn3r5vEJE4QZu+12ScqW3wnZ2tlEqSQKgLtA0tf32bbyraLb9O12AZAtK2CIYp6Jxh+zMA90owLVET5EZfvPEEu9T784aswNj4zfZagfL9hS3r9eu2CN6UsTP3h28aJF2lWLF6cvWbxsTY/T/anG8OtzqsmVdc9WXcxVcJwsESSuAE4XdIPKybaXM2yzKAN6dviC4epdRaW4uVD87ee5wv3vlMt/6InHFxzw8We/P+S195496tU/PncESke++fYfDn3jjeeP/uCD50/+4IOXT/ngo1f+lD545eR3P3j5xPcWvvSn63svnfj2ey+d8M47Lx7/1rsvnPTun9KJ7777/Il/fPf5o9794LmFfQOvdOWLv2kvyk9vLpRRKNMr5R2MKpgeO6DrVN712LJpMTnDYvOKxWZVix1QVTxveXzBdSKb86XMhlL50i+ymZ9192y6adXij+45ZuH79576x3d+c+Er76UXoACkT6ct6ebZs6Unp0w/QSgW36d7On8RJ+1hhKlASGAhnkysyxqZdS0LF9pbym/rV3xbn8C3x+8z6LR8ZwAAEABJREFU+kfdnb/tM4ylLkmA55rAMBYWlpyxccm5IlTpW/gDKfrbF0ZO2cvfAeFvHOVF3YZM0V+2DhT335yp/KqtqN/aWbZ/OaB4t+fKzk2VEtwi58275Qrc1leQb8uW7XvWbx74dX9ec1bl5M8Q4FQfcH5U/m908//96to1a8xDlixRl5nKF70uaF+u29hSKOstmzrTV+cq7g09Ze2m3op5Y09JvS2tWLemZf1XHRXt9nWZwjXLejKHlDzqq6+7B9pP//TTyjzUVguA+91BeQDYo5N2H/7m3gfeUJcvfRlRCw83SvS0KGUJhFkBirShjAw4mSB/3qpxKgDA9nJsVwDxF6VlxYqBko09a3s0cvY4gKMZchwGVrEXhkhUXbRSPCFSyD3BFCsvPTR69FV3TJo06cbx48PflSwtPqO0tv58MwmzN8eCczbSxJ4dDLV3Hqf3KWL03v0EOafMM7uu4cjZWkiY3c+Tk+SQOEnh4kfd2Nqa8cfy70zWihVrconwQQMitW+GcPYjalMH9pL0XhnLndMa1ndTQpFdN4bCu20Ombu3B83d0zy36wDH7QHDhp+CQCZ/Z6xYy5wG9vYRI2qeHTf1tKeTQ18YqimfBXt7r2jAnZE1tMfwjgYC6QGFOUAQGFCitKqzWFy4PUkPnyaIffzL9pWEQPLZiuJt9nABdGS4ksgwDlIkEHoZbCULIcGpboxz+9RT7i+GyeUPdqOFpfsEYm+8On3XO++bNWuXLdTwQeL/vM5tK1Yod3R3a99NLe1/+vmdy9evryAmM/10c9uS0pb6/86rP9ablywp+WP0x4XGIvtj958fXNKrtiAp8+Bg6lX9Z39OfkIMrW8Zp/9fzt03ZtwlH+w+Z8HeenzDLhzZUU+oD45OcYcHvGIsjKkQROYFqRQBbB0MQwOKJiCdzzq2yD5MVVWVt7S1vVy3S4A4uNGL0eJHto2DZiF7RDMhQHNAuzZIPAlhgQKrkIZajqSrCS/E5AcaxL7M3lJv9tQhFnnk9rK4/+g8qlx8Ylyzf8oMpI+ks+k6QSsRjFEkCLsIBChAuDKYxRyIyOsVjYTAw3DkTXbB5bjNFYF74f9anfxH5/OvKL9dAuTsJUssjcSekhW7SwrEACd40GQDPAsDTVHB1lSIokVW0t1o4Q2IBBkI0RhEcZyO2i45v7mZ+lcQd5trw3FdViJTHmkBJ+DA0C7YjoLcvxpyeVuA8RSEwkGwbQf6erPIxU1BxcAMrrr+lRVdudw2N9+/Y8DbJUD8eSsUvsghsC9KZdXVFQsYjIOQGAWSFcAjSBB5HgIcBxjuoBiGBrJaAmSvMBRBCmFNw/w2drSEEy4rihyg8Ako5QpgHgDLMCBxPLAEA+ViGUzbA04MAc6HwKF4qFhYd9awn0Qqnfnvode/txf839vdv683JEVU4Ojn0AIXSQcHzCFBU21QPRxUjIT+fAUsFwOMwCFTLgIZC4Me4rE+Czlhxo51/n0j/e/piWNZ3qioFmkTEBYj4Fo4kDYDWlYHUsUhQIQAOT+gK1+GkgVgUZxBiMHXj/zoq+WwnR74djqvwWkxpL0QbCPPo12QpmnAaQqpBRg4JAGMJLmKaRctICxaCoJKYNBdzrt2gCtsj7o0/B2HaVlZRdFknETSQjfBQRF+1bB1ng84NLp3TBt4JIGDwTBwKO5RqlQMhuJewACQrPk7OtgGi2y3AHmueWgwSBJzgxQRsTSkGrgKYAxaR8wCDK1oWdM2uwx7jOJ6dxc16+P+fKFkkXSp7CAdYhtcyH/FkF2SpCuWo2oEYaQ1dbMlMn9AkvVkGZzfY2hToUkMMF0DTC0DgYKDyHSjQpR5NKJ1/b+i///GNrY7gFw0cyY3v3n0FDKv/t7IFn5O2V6ERLO0MQd0sMDEHbA8BzTbHrAsZ41usLckquvOGTp8xI/GjhzxboAgS/+NC/XvGFOYppX6mtolqdraX9Q0NB5R0pWfZVz9jyVT26CAjf5h4GEu4IABiSH7BAeunE8fzcnq6wt2nXzSjbuOD/87xvnv7AP/d3b2f93XndPHJfek8ZvD2cqrw8TYDyIEnyJ8PRoZ6DZGg+IB6BQFChIhuu3YBkk4nOC+ZOryq1FROCrB8M9FwX30/3qc/63tVwtmW1xgb/J0NRINSC9kMrm39YopGphHIa8gaBQOJnJw2DgBuEcChhLP8RERx8cldeXB6S7+2rt777HLNvvlqq0sDL6VvG0u69b9JgiPz5p6YrSgv8UN5M8eygeqadsFgWEBHA8IggLPwwYTjhbXN8wdcCgGcEbg2GpLrQxtW7fm8GVffHK30Z9+5d3Ju/xiwS67zPK/n77NEeMfGPBZyJ3d0tzM39k8pv7FmVPOUruLf8hs3vRyvrf78r7ujqH1VamYSGBhjCBxF9HNRm4+C8PARbQEBwccuTI8ZJeI6F1IN5lIoTSL3LD2ler2TXc9vff07eJnTLdpgNx9wAHM87vssvv4DHwyVHd/Vwf4pDhFIFPcBVkug+W5YOAeuDgGpAtAo6AhjzxXNMr30OrauOmyOKZxSF1gCMBjAb6KxawZpFa8NqYb78bTma/fnrHbPU9Pn75vy5w57D/Ae//VRf04z1O7zNr9uFjyl2NN9fVEtvBFlW3PT5HkPlGOihOuAShMDuVs3sVJD0O0wzzbsx0LERHRD0cqFoXhQCGgBGkOAsgFbGdKwOsuVItSSjKU85KZwmcfH7b/eW+gNYJt+MC30bFjvhgPdvVdH7es9xOWNSlgm3iSo8FDwGCQtlyTiCK3bgUwAu144CB1wEUgcYFxXKBQoMuzbQ+3DMc0NRxHgHEtHbRKCQQSIIhSBByuhoQRMbVyDtfd/bthPZsX3zW05pH7m8fMvbN5aP385moegYZEWhuC138tFTEfDP7nzPzPm90/ftQe9zc13BRW1U+iheLLWNvmy4aT1Jx6nEiyZRnCaCa4aQCLriSy0yJSwBMxUmBxkiXBIwkUGPGpSWAYoGdETwC9pKE/DqQiMSAdC5B6BqRagYChD1XWr7+t1Nf7h6eOPGjofy2F/peBbZMAOX/6dGnNl8ueRrv/ucj0JlRPBtUsguuqQLsWcGihygN9KLgFQOAueGixMZT8HY92AFiHAMrFwXUYgudETlVVCEsiRAPCIHO4aIFpRwennAdKLZA1hFc9Aicm7FM/5NRGw3q2QfZWjCVSi/az1If/OHvi3N9PGDbuudpargWQag6AwX/w8MfwaEMD++KsWcOenTx+7waRvHaaSL3VZFTW1unyO1OC4uVJV50WpcxQiLLALeYgztBQJQmgFwvAI45wdR04lFfIZsC1PQMHx2AwzEMJAcMFzLXBQ3TGXKTG0gEUTAxCppAHjMOBEwlAjjAQ0GYVYFiWNvSDK60d79x78MEz/4Nk+ae7RuT4p+v+xyres3hxBaTgNQO6ssQg0TAIHCiWAlWVQRRZUHQFGJ4CikHTQ6qUhyQIoANHOjQGBPLC4EAhKJGYTSPVAdURoVIqg6kb4DkG8vWT4DgqhAQKOMyFOE+DhBhC6+6AiG1hdQwTZIrlCWwxfzLd2/VoQsm/HqP0N6YPr3ngtfGN5z49edTM+3ZpSN09vSnQMqeB9XdwX9rAv+DwJaevWvq/hXX3AU3MrRMmCPObm4P3Txg58g8Tx50wc8rk+xM09QGR7vowoJZfZPPZK8K6vGcDCckaHKcEpQwJikC7vwokZgLLkEBgANmBDNAEDkhMDCYcAASRA8tUwbYQnVwHyQ0P0LYCHiBgoYSQAgTaD8qFIgSQxFYxBwqI9mxABNnUQfc3pQBXahw56mGCojahJre506fDv2LQ/+42vJaVS9Zlw+4h3br2q7wit1u6BTyPGN22wKIBTLSblT0DDMTYCBfgITvERjcy2vU0JD08G3dcg9YszVQ90wWSJAHDMHA9D1wEKA8ttuUaiBlMlGcCTrhAURhQNNpPUf4g+BADBFmJj4ux+gAfnCMBeVbMpu5NVcz3h+WwNeMM9ovpFen3+9ck7p5DmBf/cddpB784c+K0pyaPHvLonEkhH0A+c/vfTUFX/r4xY8TnZtZy/vNvZ4+UnkQAexGVe3TSpNATzc1VL+82fYLQ03n4Lp55djwi3T2+HH6qzpUX8vLAsnCl9GHINR6m9fLZImnPaExFa0SwRcFDdLENYJDqJOEekpxo9zcVANcEhBDQUZ6CO4AxFBDIerMsC3BEJ9u2wXFdF6NIzPGQQ9yzASc9wFAyXR0cElEJNwEcGUkbgKKhDnoIdYqGgmODTEOxyHjvlKOB3Vo97J4fvfjiwL+bSf4V/eH/ikb+U21cu7i13OUK11XE6NEDOPn0ppJSUikWsEAE0mXEBDQLgKEpEiT4UXQb3ZoEAg/h2g6FeaaHvPpo9dEFMA8fBAh8cxAeAOl5gLsOVMol4DgGADFTQc57qqXKJbWsGiYCj2WDqeloJ/UgKIgQZjiIUwwbw/FwQDdHhjT9MDKbPh3r6GiB9k1PcZ09Lwp9vW8LrZ2f1he0D+vU9JsJK/tGo5FZMJqoPJWoYM8OcQvPDC+oL9SVjT+SrV3vJyuZj8nu1o/MzZveJLP9DyqbN90S0vWzqULuyCEkM7UWwxvrBTEZZimGRMCWkBRNp3tBQmojgSEd0/WApmnQNG3wivgeGPTsg2Bwumjurk8nJB/QjMFP7uALHHRNcymCMXmK8ZSKChVZBY9hwGQIUBBYVMoFC907JAU6RoPKSUoPziwrxVLXymH+iBPe+GjleQsWyIPNbYN/8G1wzH8xZP9Dchu/3vDVa1z0lG42OGVDxZ2/rrvYjZFBi8B5tOvxgDgZKoYGuIBEC4OBiZmkiWuUg+keQgaB+H6QKbxBJgGUBUA6AJSDQ5ARIR4IQS6XA92xrHAq/qpNwbGIwy52CVhJ8ST40gVDqpiF1JFCOQcqkjB0WACLQs2TGOiFMhljRW5UojbQIMWqhwbiI+ql6JgARk0Kc8GZPC3szuLkgSxBHcrgxCGI5w6hHdiHx6gZtbHk5BArjKtPppqiUqA6Hg5HBJpizHIZwjgFAc2BOFBAoh2/UqlA0VA3tPb2vCfbztM2QV+huHCaTbO3ZTW9zWRZt2CYwEoRcD0CbQAU0GiOqD9AAhL8w0UgcXAcfFpgqAzrIVGsGoQjO5iIaBGMJgFH9OhUNZBDEmREGnoxy07nipmiar/Z77GnVyKNex3x7ld3nvT2CsVvc1tO+LY8+C1jb0EKw4NLlljnbtjQ1gruhcVI1d56NHXZxpL+bqdiZisUo1YIws6qCpR1FYDCbaQflwgWYYEmKY8g/tQU2mkJpH75TEO6GBAIJNl0Bhn6JFAsB4ARWFdPv9nfm/4orVd+b1jmx4ZhuI7jAIWRgKH6pMCCVJNYZQX5VyoU/hkXCnh8UALMcqCI2vIMHTx071omRAIhMFXdsxRDtTWn7Fm+4geIWTGgkdTjGRpc2wSaxAHxrG07Zq+qltenksOR6fIAAAwkSURBVPFNtqUWkXEArOuBqxqorQgkUzWr2EDwcIUsH2za3Bkr0yvv7PXanxlQN/08r5sn9xfLrRYCQAUxN+prsB4CIviJdGHw8DAAD925qJyHrpbnoV2EdQ0gPAVnoddwvB7LMfoxUm1Vjf5eAl+aF8Vb1eq6I7uDsWOPXbrq2VMXLiyiqtvFiW8Xs/jWJFra2/Wz1n294dNFi+7uqK49tDPMjx7gAkfrUuRXFYJ+xsLpZd3pTO9A0agQHGm6DEnZlL9jAtqFMWDQjup7uWibBGSKgBQMg4OYn6JZyJfKrqFqOM2DBWxBowE3CILBGYoHyiXBNj3ozRX6++TKT1Zk+0/O8PTB3Ub5/L5S3sRZGgLhANLdUbMsYniJgYFKbo3IS+cH2MBBIssfwhHCTymc+tBzXMVGO72OvEmKroBiqkWcp1pswZ6EUDFzw+ZNswjCGlLUSjfolqkBSUGxIkM2XzStstdzajvSjAhzUoAfdrJbSY6QW8EuuvQyjKS/YGnORtIKeDSnAMkAiwKqDEqE5wLmbSEkjm4wBBSStDCMzXtYZaOsrd5su2vbPfyNdaZ7n1PX9CMlGN9LI9l9Vy9e8/O5S1d8fPaSJSVUcbs6fUr8l0/onxteC4Dr/2jC2Us2ZOcuXfXaKhO/tU9M/riDZ/crJeKTQiNHXNxjU7ZFkmjzRJyBdmIMdeUziYd2T5PAwUTbtu4ClBQVNM2AmkS1R2K0WHABi68B16KpMkUzoKAdGcORqoXuMZLa0DnQs/TU5e3F4z9ZWejOZJ60wF1ZRtIri9yoFEODgwxexPiLPMo5slvpflyW5c/TudJXvcWuJ/Kl3LlI738TB8xmKRpi4ZgTjUbfqOQLv5ENR6solQNKjoxrrXkEVf1unYQSztGABB4gSYY5qmqjaQAvBQ7JForXlG37mv4mINvSaY2gyMWarngYhiEEKQDImAakGiJLDFxwUDU0MXSHbhA4cLBIAgxJKOE1VfdWahL7q8OG7NKaTBx+wZrWn575waLHz/to6dozFq3Ot8A3lfyK21nCt7P5fO90Ll2xQjlj0aK8D5hzV3YWTv56Q48upBDf2yqOIsQkYIBhGFgIFBUKgzKDg8yR4CBXJ4YYVSA5JC8cBmy7poYMMnsC2BlXy8qOYRDIxVwwZbAwB8VTAouqA4z12Kia6CNNkTF1eFSnaeojgqGA5lnwkNHv6HqF8uDBktPbhldoJ+1W5imYfKtpOSnbtftRmo+5bglHoC1mi4au2S/l8WCFZoL1PYXyHiWHuCk3qvZ6g4k+5ATYVMX31iFmF1guCFUAiGHxQDDE1Q9rrMJZeirnJELXANLsbF3hBM4xbQ0ogQKDskEhLVBpF0xkhPhA8e0xP3kYgE4SXpaluEOWLFFPX7as96S331ZaFm4/P+kDf8exwwBka7To1TQb2Z4lGzGi7+V3kS2iEx74rk8TGdcWRaKYigYkjZgJSQnXtCEaivAF1WKRzMEESbI1VXV8qQBoFy/apmrS5Id0mXMiNDdLJNiDuNpWh6a5p3XTLmuWDQRShyzTtjXd+3zuGrAqbrnRAvNnGIPNJUX2foJmrkftXe2BFzV1A2hUgWOYGYzjMIcta117ScE5mw+FLiI56T0TxzIlwzAxhgGapqE/nRahbxAgLidyroHsHCStPIynrYUABE1SoiGrLLqC7TpgInFpkAAG7oCNAzgYDh5GgOtvFBgJGkE6Ks8YW6PdjpKHyLKjTPWv54k8YFbesJdZBJ0v2w4oiBo4jyQFTYKO9H9fLydJHCzLABy5MnmRB01RpATNktcCYCGT0HmMxJH6DjJy+TqS0N/pqYv2bG/XVY6Ylink98wYtRTlsusoLrjGwxkoIZMBYxjPs3F7AQAeDSeHh7lQQ02iNi6J4TmsFDiXYoXdcZoFQGCiaILKpPvPiPDE3NfH14eeGxMXKUdUzGVrPwiB+hMKp1/20NZvo/ETBOlpLEu1oHYNy2hPZ9Ndru0soQnLyAwNC5RHzQgLAUCiDjyXAgcIcHECHIIAjKLB8UHhAFjAQMXG5LzhtJoGk4Yd+MB34Ln7U/esQOSnhVDwHKxh6KNlQWxbXygZZZwCIZ4Ej2TBRUzkMyrOslBQKsBKAgEknthjTJzHbKOEO4jXDQMJEMZBOtoHBQ5F5QCAYQIPDm8aeqWYYV30iN5zz+AMZfABAZB/lWAJpi4OgKGtPG/phqIpOtimBYjZO1HKomYBw/zXLgg8y/b1dV3e3933PO7Q91NY+SyuuprJrMloOGBPFfMFlUK7P4lqCIw3qE7JZWVxOBC6MRGJXETqBEd77ATDdvaUFQ0BAQOcF8AAEkkRGhQEloyJQYGktRwvtg/wwktY09AL9HjysDzHqbADH/gOPHcANPnTP/208mTt0Be+oNgfbRbDzVqyet9ej75udU/u/Y39xb6C5iIdioesrAEVDAIW4MPhoTWnelJof1fkaY5HBgsCCMhqiZL1V8IM6fkfA4m6OsUaXpoTbQ5U1e7rb/1DqZwd0PQSELgbxHFjnFxdTZeozZ9rsrJSU9QMOO6XputMcx3rYM9xPkXDQ15WT43GY/fEqxMHJaoTv7Qde1dV1S8p4la12NREurZTg9s2JjEs6HKF8GyXR/VA9Nj1AZZ81nF0NcAL03lReDpWnapSCQxkNOQKCSCTlDFQdnv7KvhHeTZw+2ZROmZNgJ69aJh29L6vvfHohYsXp3c0m8On3bfTDg8QnxgLFixwLnjzTeNU5L8/8YulHx+z7Otr2uLJQ4im4T9wGxquHiDpN8u8kG6XFbUChNXa13dytlS5pySX7wGOZXXPA8dzDYrA8qFup0bisSP7Nra/7anqwnKucicyEEScxJ1IVew1E7MBpwFJCvMEBsdroC/MMQJ5BkcS12Gud15+1eZsNiOvVxQlgiLfbqVSwV3bFkB3ZL2ELYrFY+cGIpELbVLo1klNJHA4PBVPCAhkUBVLkJQLDe+MG9nsetrRyHa/UaRDzxcLygKXZmvTfsQ/GvV6dLOoScIKMx69sxxJHt5PB486auXKn574+VevnP/pst5rF6wxfbrsTID8mTupsFUKtCDPzVEff7xiFc/f14phR/WH41PygnhIBedu4MXUl4TNVOSSSfSpBtC1KXACUpXiuO/Ga+u/CgejT4aDkWEkSYwgGHoeBPBjNIoeohPwlk544NI4kBw9TRDIO2lMD5AqlakopWeUvLaOCoUkicXOCgWkkcGgxFTX1rAD+fzpGMMcEZCIUEVT1lFALE6EmXG4R87HAN9XV02gkTqI4pXBZKz6Nc/DvxS54HzwqLNUw93VodjenAlfFoG8qUs15tmJ6LhWW9l10YD8ixOWf/nlBa3LMrDz2CoFdkqQrZLlfzIvQJLlbAQWpIr1di5dvZBoHHl9j2YfWgnGDhSGjTqJHj7i0QzLfdKuKp0Zy1X6ZEXsKxRxLhgCB9kygXCcU0zn+oJhPNGRzj5sIIvERts+yfpGOLG3IAZfDgToK0WMPkDg4EyBgXsYmrnIQ1xelitQKBQASRLKsZ3ry7r+kaW7jxRl5VXFMN8SQ+EjTWTIO4IAJoccCDQHrYW85UihkikG26XGoW/UTp58KTGk8dANjrvX8StXXzl3xern5y36uuf0T9dXkJPC/J+Z7rzbGgV2AmRrVPmevBYAdx5Sx85bs0Y+ZcmSTQd//NnrH3UXftzWkd9HoUOTSnxgTJ/pnmSQ/C1lB3+1YsG6zX253nROVgBHxglBWR7BOo5Dgml5AB7BCII4WeCEnwks90Q0GP51JBw8IRQQUzzPA4tAJEgi0CwDJE2FUcCwgSSIWYBh4xwXnK6BTF+vZS5fbygvr1Hl23Mh8ax+jm1u9dz6zxV5yrv5/JFfr1t33wnvvbcGgUHGUI9++p7p7czeCgV2AmQrRPlHsnxV7ILWVuPclSsLF65alb5gxYpnjvni88uBok8AIPZMVVXPiCVqj4smq28c2jjy4YahQz+YOHlKdmjTSGP48JFQVVUF8XgcQoEgBEQJOBqBAblefXAEI+HBd2PHjoX6+vpNI0aO+GLsuDHPDB8x/MaGIQ3n148YeTAdTe0nJGtPOHHdmp8e9dlnD/34669XX7B4cfmKTz4pIANbP3vJEusfmc/Osn9Jgf8HAAD//y5PPAcAAAAGSURBVAMAf0/y7QbJDKMAAAAASUVORK5CYII="/>
          <p:cNvSpPr>
            <a:spLocks noChangeAspect="1" noChangeArrowheads="1"/>
          </p:cNvSpPr>
          <p:nvPr/>
        </p:nvSpPr>
        <p:spPr bwMode="auto">
          <a:xfrm>
            <a:off x="129645" y="70114"/>
            <a:ext cx="2078423" cy="2078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6200" tIns="38100" rIns="76200" bIns="38100" numCol="1" anchor="t" anchorCtr="0" compatLnSpc="1">
            <a:prstTxWarp prst="textNoShape">
              <a:avLst/>
            </a:prstTxWarp>
          </a:bodyPr>
          <a:lstStyle/>
          <a:p>
            <a:endParaRPr lang="en-IN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5E5AD2-D3EB-DA23-5844-37FCCF978A71}"/>
              </a:ext>
            </a:extLst>
          </p:cNvPr>
          <p:cNvSpPr txBox="1"/>
          <p:nvPr/>
        </p:nvSpPr>
        <p:spPr>
          <a:xfrm>
            <a:off x="2708679" y="245131"/>
            <a:ext cx="7099507" cy="115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D. Y. Patil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Pratishthan's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6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for Advanced Computing and Software Development</a:t>
            </a:r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C4727BD-C642-CCB4-DF60-432535487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45" y="242665"/>
            <a:ext cx="2535917" cy="901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7C08AA4-2888-D96B-04DB-A8BB1DC33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1303" y="296197"/>
            <a:ext cx="2211051" cy="847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BD21A1-6957-251E-81F6-6B184840C661}"/>
              </a:ext>
            </a:extLst>
          </p:cNvPr>
          <p:cNvSpPr txBox="1"/>
          <p:nvPr/>
        </p:nvSpPr>
        <p:spPr>
          <a:xfrm>
            <a:off x="3936967" y="4444881"/>
            <a:ext cx="3601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SUMIT BADGUJAR 258439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KETAN MAHAJAN 258451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0C5F1E-D761-95E8-D82E-9A3A8EFBA6A8}"/>
              </a:ext>
            </a:extLst>
          </p:cNvPr>
          <p:cNvSpPr txBox="1"/>
          <p:nvPr/>
        </p:nvSpPr>
        <p:spPr>
          <a:xfrm>
            <a:off x="800124" y="5709992"/>
            <a:ext cx="33470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</a:t>
            </a:r>
            <a:r>
              <a:rPr lang="en-IN" b="1" dirty="0"/>
              <a:t>SUSHMA HATTARKI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95133-6A2C-27EC-18B0-621C25E18C29}"/>
              </a:ext>
            </a:extLst>
          </p:cNvPr>
          <p:cNvSpPr txBox="1"/>
          <p:nvPr/>
        </p:nvSpPr>
        <p:spPr>
          <a:xfrm>
            <a:off x="8044829" y="5709991"/>
            <a:ext cx="34591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ANIL SHARMA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CENTRE CO-ORDINATOR</a:t>
            </a:r>
          </a:p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5CB478-A77C-F205-9316-00E772EC3CAA}"/>
              </a:ext>
            </a:extLst>
          </p:cNvPr>
          <p:cNvSpPr txBox="1"/>
          <p:nvPr/>
        </p:nvSpPr>
        <p:spPr>
          <a:xfrm>
            <a:off x="3552496" y="1958759"/>
            <a:ext cx="49398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Project Presentation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NO. 07</a:t>
            </a:r>
          </a:p>
        </p:txBody>
      </p:sp>
    </p:spTree>
    <p:extLst>
      <p:ext uri="{BB962C8B-B14F-4D97-AF65-F5344CB8AC3E}">
        <p14:creationId xmlns:p14="http://schemas.microsoft.com/office/powerpoint/2010/main" val="1399655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9FC94-0098-BCA4-52DC-8C80DF7FD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0"/>
          <p:cNvSpPr/>
          <p:nvPr/>
        </p:nvSpPr>
        <p:spPr>
          <a:xfrm>
            <a:off x="93583" y="230385"/>
            <a:ext cx="6189345" cy="636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Why DevSecOps + GitOps?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3583" y="1232296"/>
            <a:ext cx="11936492" cy="61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DevOps practices often treat security as an afterthought, creating vulnerabilities that can be exploited. By combining DevSecOps principles with GitOps workflows, we create a secure, auditable, and automated deployment pipeline.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04800" y="2267307"/>
            <a:ext cx="610791" cy="610791"/>
          </a:xfrm>
          <a:prstGeom prst="roundRect">
            <a:avLst>
              <a:gd name="adj" fmla="val 14969254"/>
            </a:avLst>
          </a:prstGeom>
          <a:solidFill>
            <a:srgbClr val="D2600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797" y="2435304"/>
            <a:ext cx="274796" cy="2747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42905" y="2445602"/>
            <a:ext cx="2545437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Integrated Security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04800" y="3140317"/>
            <a:ext cx="6088618" cy="61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DevSecOps embeds security checks throughout the entire CI/CD lifecycle, not just at the end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998613" y="2267307"/>
            <a:ext cx="610791" cy="610791"/>
          </a:xfrm>
          <a:prstGeom prst="roundRect">
            <a:avLst>
              <a:gd name="adj" fmla="val 14969254"/>
            </a:avLst>
          </a:prstGeom>
          <a:solidFill>
            <a:srgbClr val="D2600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6610" y="2435304"/>
            <a:ext cx="274796" cy="2747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7401" y="2351424"/>
            <a:ext cx="2625804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Single Source of Truth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998613" y="3089195"/>
            <a:ext cx="4888587" cy="61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serves as the authoritative source for infrastructure and application configurations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04800" y="4712017"/>
            <a:ext cx="610791" cy="610791"/>
          </a:xfrm>
          <a:prstGeom prst="roundRect">
            <a:avLst>
              <a:gd name="adj" fmla="val 14969254"/>
            </a:avLst>
          </a:prstGeom>
          <a:solidFill>
            <a:srgbClr val="D2600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797" y="4880014"/>
            <a:ext cx="274796" cy="2747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83588" y="4829884"/>
            <a:ext cx="2967752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Automated Deployments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304800" y="5664636"/>
            <a:ext cx="6088618" cy="61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GitOps ensures desired state reconciliation with automatic deployment when changes are committed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998613" y="4712017"/>
            <a:ext cx="610791" cy="610791"/>
          </a:xfrm>
          <a:prstGeom prst="roundRect">
            <a:avLst>
              <a:gd name="adj" fmla="val 14969254"/>
            </a:avLst>
          </a:prstGeom>
          <a:solidFill>
            <a:srgbClr val="D2600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66610" y="4880014"/>
            <a:ext cx="274796" cy="2747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808357" y="4787026"/>
            <a:ext cx="2594848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Complete Auditability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6998613" y="5624273"/>
            <a:ext cx="4888587" cy="61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change is tracked, versioned, and auditable through Git history and commit logs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32385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DFDE6-7CA9-10A5-73E7-57C4B6E08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0"/>
          <p:cNvSpPr/>
          <p:nvPr/>
        </p:nvSpPr>
        <p:spPr>
          <a:xfrm>
            <a:off x="231816" y="255150"/>
            <a:ext cx="66955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Project Overview: What We Built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31815" y="1304091"/>
            <a:ext cx="1027584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implements an end-to-end GitOps workflow that integrates comprehensive security scanning at multiple critical stages. The system combines automated vulnerability detection with Git-based deployment orchestration to ensure secure, reliable Kubernetes deployments.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31816" y="2647949"/>
            <a:ext cx="17869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31816" y="3002993"/>
            <a:ext cx="5048526" cy="45719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7" name="Text 4"/>
          <p:cNvSpPr/>
          <p:nvPr/>
        </p:nvSpPr>
        <p:spPr>
          <a:xfrm>
            <a:off x="513328" y="2689739"/>
            <a:ext cx="29668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Pre-commit Security Checks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31816" y="3667720"/>
            <a:ext cx="50485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validation of code and manifests before commits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66574" y="2647949"/>
            <a:ext cx="17869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66573" y="3002993"/>
            <a:ext cx="5048619" cy="45719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1" name="Text 8"/>
          <p:cNvSpPr/>
          <p:nvPr/>
        </p:nvSpPr>
        <p:spPr>
          <a:xfrm>
            <a:off x="7192394" y="2653678"/>
            <a:ext cx="25232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CI/CD Pipeline Scanning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66573" y="3667720"/>
            <a:ext cx="50486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vulnerability scanning and quality gates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1816" y="4427458"/>
            <a:ext cx="17869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31816" y="4782501"/>
            <a:ext cx="5048526" cy="45719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5" name="Text 12"/>
          <p:cNvSpPr/>
          <p:nvPr/>
        </p:nvSpPr>
        <p:spPr>
          <a:xfrm>
            <a:off x="522327" y="4444405"/>
            <a:ext cx="22337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ArgoCD Deployment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31816" y="5447228"/>
            <a:ext cx="50485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GitOps-driven state reconciliation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66574" y="4427458"/>
            <a:ext cx="17869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66573" y="4782501"/>
            <a:ext cx="5048619" cy="45719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9" name="Text 16"/>
          <p:cNvSpPr/>
          <p:nvPr/>
        </p:nvSpPr>
        <p:spPr>
          <a:xfrm>
            <a:off x="7192394" y="4473890"/>
            <a:ext cx="22337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Runtime Security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866573" y="5447228"/>
            <a:ext cx="50486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Container and manifest security verification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20983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F8BEE-84CE-3111-A715-1C028A7AE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0"/>
          <p:cNvSpPr/>
          <p:nvPr/>
        </p:nvSpPr>
        <p:spPr>
          <a:xfrm>
            <a:off x="360164" y="-61556"/>
            <a:ext cx="9868733" cy="67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Project Architecture &amp; Key Components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60164" y="1014412"/>
            <a:ext cx="11602998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platform integrates industry-standard tools to create a robust, secure deployment pipeline. Each component plays a specific role in ensuring security and reliability throughout the deployment process.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164" y="1910238"/>
            <a:ext cx="536258" cy="5362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23116" y="1961434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Kubernetes Cluster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360163" y="2867560"/>
            <a:ext cx="4207312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Minikube or cloud-based deployment target managing container orchestration and scaling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0960" y="1910238"/>
            <a:ext cx="536258" cy="53625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83912" y="1910238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ArgoCD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820960" y="2788742"/>
            <a:ext cx="4207312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 GitOps deployment controller ensuring desired state reconciliation and automatic sync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81755" y="1910238"/>
            <a:ext cx="536258" cy="53625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9520" y="1939676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9357955" y="2802971"/>
            <a:ext cx="2834045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CI/CD automation engine running security scans and deployment workflows on every change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0164" y="4564022"/>
            <a:ext cx="536258" cy="53625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53156" y="4664570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Trivy &amp; KubeSec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360163" y="5394959"/>
            <a:ext cx="4207312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Container and manifest vulnerability scanners detecting security issues before deployment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20960" y="4564022"/>
            <a:ext cx="536258" cy="53625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661787" y="4664570"/>
            <a:ext cx="3016806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Pre-commit Framework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4894532" y="5473777"/>
            <a:ext cx="4207312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Early detection of security issues through local hooks preventing problematic code from entering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0216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FC921-CC0A-3D41-B050-6705A45EC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0"/>
          <p:cNvSpPr/>
          <p:nvPr/>
        </p:nvSpPr>
        <p:spPr>
          <a:xfrm>
            <a:off x="294992" y="527811"/>
            <a:ext cx="6150156" cy="598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Security Scanning: Pre-commit Hooks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04" y="1128116"/>
            <a:ext cx="5932396" cy="47751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902291" y="1074538"/>
            <a:ext cx="2342146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Early Detection Strategy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902291" y="1595318"/>
            <a:ext cx="3126105" cy="141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Pre-commit hooks automatically scan code and Kubernetes manifests before commits reach the repository. This prevents insecure code or misconfigurations from entering the codebase in the first place.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902292" y="3170276"/>
            <a:ext cx="1731720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902291" y="3631167"/>
            <a:ext cx="3126105" cy="226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.pre-commit-config.yaml</a:t>
            </a: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triggers automated YAML linting and vulnerability scans</a:t>
            </a:r>
            <a:endParaRPr lang="en-US" sz="12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Scans run locally before any code is pushed to remote repository</a:t>
            </a:r>
            <a:endParaRPr lang="en-US" sz="12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Immediate feedback loop reduces costly fixes downstream</a:t>
            </a:r>
            <a:endParaRPr lang="en-US" sz="12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Customizable rules ensure team standards are maintained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20799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1DD70-67B7-7410-56CF-03927AF01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0"/>
          <p:cNvSpPr/>
          <p:nvPr/>
        </p:nvSpPr>
        <p:spPr>
          <a:xfrm>
            <a:off x="349330" y="238340"/>
            <a:ext cx="6725822" cy="66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CI/CD Pipeline Security Checks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9329" y="824484"/>
            <a:ext cx="11537871" cy="666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GitHub Actions pipeline executes comprehensive security checks on every push and pull request, ensuring only verified, secure code progresses through the deployment pipeline.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29" y="1717929"/>
            <a:ext cx="940671" cy="128480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21988" y="1932003"/>
            <a:ext cx="2351783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Code Push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621988" y="2387774"/>
            <a:ext cx="10419673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Developer pushes changes to GitHub repository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29" y="3002732"/>
            <a:ext cx="940671" cy="128480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21988" y="3216807"/>
            <a:ext cx="2351783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Container Scan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621988" y="3672578"/>
            <a:ext cx="10419673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Trivy analyzes container images for critical vulnerabilities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29" y="4287536"/>
            <a:ext cx="940671" cy="128480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21988" y="4501610"/>
            <a:ext cx="2351783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Manifest Scan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1621988" y="4957381"/>
            <a:ext cx="10419673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KubeSec checks Kubernetes configurations for misconfigurations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29" y="5572339"/>
            <a:ext cx="940671" cy="128480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621988" y="5786414"/>
            <a:ext cx="2351783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Quality Gate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1621988" y="6242185"/>
            <a:ext cx="10419673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fails if security issues detected, blocking deployment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6816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CE8C-DFA7-B99C-327C-FE6F437C0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Text 0"/>
          <p:cNvSpPr/>
          <p:nvPr/>
        </p:nvSpPr>
        <p:spPr>
          <a:xfrm>
            <a:off x="153054" y="-12264"/>
            <a:ext cx="37742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Benefits &amp; Impact</a:t>
            </a:r>
            <a:endParaRPr lang="en-US" sz="12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54" y="1150144"/>
            <a:ext cx="1843911" cy="2454514"/>
          </a:xfrm>
          <a:prstGeom prst="rect">
            <a:avLst/>
          </a:prstGeom>
        </p:spPr>
      </p:pic>
      <p:sp>
        <p:nvSpPr>
          <p:cNvPr id="19" name="Text 1"/>
          <p:cNvSpPr/>
          <p:nvPr/>
        </p:nvSpPr>
        <p:spPr>
          <a:xfrm>
            <a:off x="153054" y="3628191"/>
            <a:ext cx="202872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Strong Security Posture</a:t>
            </a:r>
            <a:endParaRPr lang="en-US" sz="1200" dirty="0"/>
          </a:p>
        </p:txBody>
      </p:sp>
      <p:sp>
        <p:nvSpPr>
          <p:cNvPr id="20" name="Text 2"/>
          <p:cNvSpPr/>
          <p:nvPr/>
        </p:nvSpPr>
        <p:spPr>
          <a:xfrm>
            <a:off x="153054" y="4472940"/>
            <a:ext cx="202872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vulnerability detection at multiple stages prevents security issues from reaching production</a:t>
            </a:r>
            <a:endParaRPr lang="en-US" sz="12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4543" y="1150144"/>
            <a:ext cx="1843911" cy="2194560"/>
          </a:xfrm>
          <a:prstGeom prst="rect">
            <a:avLst/>
          </a:prstGeom>
        </p:spPr>
      </p:pic>
      <p:sp>
        <p:nvSpPr>
          <p:cNvPr id="22" name="Text 3"/>
          <p:cNvSpPr/>
          <p:nvPr/>
        </p:nvSpPr>
        <p:spPr>
          <a:xfrm>
            <a:off x="3484544" y="3628191"/>
            <a:ext cx="202880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Faster, Safer Deployments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3484544" y="4472940"/>
            <a:ext cx="202880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Reduced manual intervention while maintaining security controls accelerates release cycles</a:t>
            </a:r>
            <a:endParaRPr lang="en-US" sz="12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149" y="1150144"/>
            <a:ext cx="1749782" cy="2194560"/>
          </a:xfrm>
          <a:prstGeom prst="rect">
            <a:avLst/>
          </a:prstGeom>
        </p:spPr>
      </p:pic>
      <p:sp>
        <p:nvSpPr>
          <p:cNvPr id="25" name="Text 5"/>
          <p:cNvSpPr/>
          <p:nvPr/>
        </p:nvSpPr>
        <p:spPr>
          <a:xfrm>
            <a:off x="6816149" y="3628191"/>
            <a:ext cx="19356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Improved Auditability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6816150" y="4118610"/>
            <a:ext cx="202880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as source of truth provides complete audit trail for compliance and security reviews</a:t>
            </a:r>
            <a:endParaRPr lang="en-US" sz="1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7756" y="1150144"/>
            <a:ext cx="1644851" cy="2194560"/>
          </a:xfrm>
          <a:prstGeom prst="rect">
            <a:avLst/>
          </a:prstGeom>
        </p:spPr>
      </p:pic>
      <p:sp>
        <p:nvSpPr>
          <p:cNvPr id="28" name="Text 7"/>
          <p:cNvSpPr/>
          <p:nvPr/>
        </p:nvSpPr>
        <p:spPr>
          <a:xfrm>
            <a:off x="10147756" y="3628191"/>
            <a:ext cx="18871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Scalable Approach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10147757" y="4118610"/>
            <a:ext cx="202880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 adapts to any Kubernetes environment from development to enterprise production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27287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F0DD8-1FC1-1094-8D85-AAA93DD38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0"/>
          <p:cNvSpPr/>
          <p:nvPr/>
        </p:nvSpPr>
        <p:spPr>
          <a:xfrm>
            <a:off x="324707" y="273979"/>
            <a:ext cx="6114510" cy="648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Challenges &amp; Future Enhancements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24707" y="922036"/>
            <a:ext cx="9342001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While the current implementation provides solid security foundations, several areas offer opportunities for improvement and expanded capabilities.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35817" y="2289231"/>
            <a:ext cx="4383109" cy="207407"/>
          </a:xfrm>
          <a:prstGeom prst="roundRect">
            <a:avLst>
              <a:gd name="adj" fmla="val 4200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4708" y="2081824"/>
            <a:ext cx="441080" cy="622221"/>
          </a:xfrm>
          <a:prstGeom prst="roundRect">
            <a:avLst>
              <a:gd name="adj" fmla="val 7347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32114" y="2893711"/>
            <a:ext cx="1837999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Secrets Management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32115" y="3331504"/>
            <a:ext cx="4309680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handling of sensitive credentials within GitOps workflows using tools like SOPS or sealed secrets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319867" y="1978121"/>
            <a:ext cx="4383193" cy="207407"/>
          </a:xfrm>
          <a:prstGeom prst="roundRect">
            <a:avLst>
              <a:gd name="adj" fmla="val 4200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008758" y="1770714"/>
            <a:ext cx="441080" cy="622221"/>
          </a:xfrm>
          <a:prstGeom prst="roundRect">
            <a:avLst>
              <a:gd name="adj" fmla="val 7347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4252" y="1926210"/>
            <a:ext cx="220539" cy="3111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16164" y="2582601"/>
            <a:ext cx="1837999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Extended Scanning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216164" y="3020394"/>
            <a:ext cx="4309764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 coverage to include dependency analysis and runtime security monitoring for complete protection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35817" y="4882412"/>
            <a:ext cx="4383109" cy="207407"/>
          </a:xfrm>
          <a:prstGeom prst="roundRect">
            <a:avLst>
              <a:gd name="adj" fmla="val 4200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24708" y="4675006"/>
            <a:ext cx="441080" cy="622221"/>
          </a:xfrm>
          <a:prstGeom prst="roundRect">
            <a:avLst>
              <a:gd name="adj" fmla="val 7347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32114" y="5486893"/>
            <a:ext cx="1837999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Policy Enforcement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32115" y="5924686"/>
            <a:ext cx="4309680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OPA/Gatekeeper for automated policy validation ensuring compliance with security standards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319867" y="4571302"/>
            <a:ext cx="4383193" cy="207407"/>
          </a:xfrm>
          <a:prstGeom prst="roundRect">
            <a:avLst>
              <a:gd name="adj" fmla="val 4200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878787" y="4426759"/>
            <a:ext cx="441080" cy="622221"/>
          </a:xfrm>
          <a:prstGeom prst="roundRect">
            <a:avLst>
              <a:gd name="adj" fmla="val 7347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216164" y="5175782"/>
            <a:ext cx="2048411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Enhanced Observability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7216164" y="5613575"/>
            <a:ext cx="4309764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Prometheus and Grafana dashboards for real-time security metrics and deployment visibility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12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7754A-D6BC-A4E2-B832-997A46B30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0"/>
          <p:cNvSpPr/>
          <p:nvPr/>
        </p:nvSpPr>
        <p:spPr>
          <a:xfrm>
            <a:off x="203478" y="362018"/>
            <a:ext cx="4069941" cy="600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Get Started &amp; Explore the Project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03478" y="1454706"/>
            <a:ext cx="3495117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Ready to Implement Secure </a:t>
            </a:r>
            <a:r>
              <a:rPr lang="en-US" sz="1200" dirty="0" err="1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GitOps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03478" y="2337554"/>
            <a:ext cx="3495117" cy="1134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the repository and deploy on your Kubernetes cluster. Customize the security scans to match your organization's requirements and security policies.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03479" y="3634502"/>
            <a:ext cx="193615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Project Resources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03478" y="4097060"/>
            <a:ext cx="3495117" cy="1702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2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Repository:</a:t>
            </a: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u="sng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secure-gitops-devsecops-platform</a:t>
            </a:r>
            <a:endParaRPr lang="en-US" sz="12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 documentation and setup instructions included</a:t>
            </a:r>
            <a:endParaRPr lang="en-US" sz="12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Extensible architecture for adding custom security checks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03478" y="5945808"/>
            <a:ext cx="3495117" cy="56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highlight>
                  <a:srgbClr val="437066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Join the DevSecOps movement: secure your deployments with GitOps today!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13127" y="5732408"/>
            <a:ext cx="193615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Questions &amp; Demo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13127" y="6032446"/>
            <a:ext cx="6814701" cy="56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Ready to see it in action? Let's explore the implementation together and discuss how to adapt it to your environment.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400BE6-6440-5257-7715-42A931AA20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127" y="786050"/>
            <a:ext cx="7064573" cy="47838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7673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1E3C8-55C4-AD4E-6110-698384920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767D9E-3C4A-AE33-B2A4-65BC71A1F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510" y="0"/>
            <a:ext cx="8100000" cy="3312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0ADC0DA-75EB-E396-3A63-1279E0490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510" y="3733958"/>
            <a:ext cx="8100000" cy="305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9587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8BE3B-1BDE-0B15-BD4B-D3DB5755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A9C22CF-4548-B9B0-6140-CB7D6E899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736" y="0"/>
            <a:ext cx="8100000" cy="2907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11C93C3-F7C8-6A18-C834-FB0D54AAD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736" y="3195145"/>
            <a:ext cx="8100000" cy="3662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667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C3C6E-AF7D-6422-EAF5-BB0F3664C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C452B4C-FC09-7098-9E12-268B66578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131" y="-192634"/>
            <a:ext cx="8100000" cy="3621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E4DC50D-8BAA-E9EB-4B57-728C1E539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131" y="3106558"/>
            <a:ext cx="8100000" cy="375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4596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A6651-B404-3DB3-418A-ACDA0303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2EE6401-7D8A-14E1-83C9-6DFD9EB36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442" y="0"/>
            <a:ext cx="8100000" cy="3331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D6D853FB-5A98-AA45-E0A9-6BEB9D6F5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442" y="3526221"/>
            <a:ext cx="8100000" cy="3331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799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14D11-302E-02E7-09D3-93129BAE4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04797A9-17E1-4B38-0F17-BCBA16ECA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359" y="0"/>
            <a:ext cx="8100000" cy="315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A7974769-1DB6-6772-32E0-F209339DB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359" y="3279229"/>
            <a:ext cx="8100000" cy="3578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312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DE2FD-1686-182A-FDFC-B78202D55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4801D4-B12B-644D-6F86-4539CB61FB72}"/>
              </a:ext>
            </a:extLst>
          </p:cNvPr>
          <p:cNvSpPr txBox="1"/>
          <p:nvPr/>
        </p:nvSpPr>
        <p:spPr>
          <a:xfrm>
            <a:off x="3489434" y="2767280"/>
            <a:ext cx="5791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4780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734</Words>
  <Application>Microsoft Office PowerPoint</Application>
  <PresentationFormat>Widescreen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Open Sans</vt:lpstr>
      <vt:lpstr>Arial</vt:lpstr>
      <vt:lpstr>Times New Roman</vt:lpstr>
      <vt:lpstr>Consolas</vt:lpstr>
      <vt:lpstr>Bitter Medium</vt:lpstr>
      <vt:lpstr>Bitter Light</vt:lpstr>
      <vt:lpstr>Custom Theme</vt:lpstr>
      <vt:lpstr>Title:- End-to-End DevSecOps and GitOps Kubernetes Platform with SonarQube, Trivy, Automated CI/CD, Monitoring, &amp; Canary Deployments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DevSecOps Pipeline for Frontend Website</dc:title>
  <dc:subject>End-to-End DevSecOps Pipeline for Frontend Website</dc:subject>
  <dc:creator>Kimi</dc:creator>
  <cp:lastModifiedBy>Sumit Badgujar</cp:lastModifiedBy>
  <cp:revision>9</cp:revision>
  <dcterms:created xsi:type="dcterms:W3CDTF">2026-02-02T18:23:48Z</dcterms:created>
  <dcterms:modified xsi:type="dcterms:W3CDTF">2026-02-04T08:23:31Z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{"Label":"End-to-End DevSecOps Pipeline for Frontend Website","ContentProducer":"001191110108MACG2KBH8F10000","ProduceID":"19c1f8f2-2492-8781-8000-00004091f82b","ReservedCode1":"","ContentPropagator":"001191110108MACG2KBH8F20000","PropagateID":"19c1f8f2-2492-8781-8000-00004091f82b","ReservedCode2":""}</vt:lpwstr>
  </property>
</Properties>
</file>